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Constraint Satisfaction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University Exam Timetabling with Dual-Role Instructor Conflict Modeling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8321040" cy="3657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286000"/>
            <a:ext cx="2651760" cy="2331720"/>
          </a:xfrm>
          <a:prstGeom prst="rect">
            <a:avLst/>
          </a:prstGeom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Problem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timetabling is computationally intractable — existing methods leave critical stakeholder conflicts unresolved.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651760" cy="2331720"/>
          </a:xfrm>
          <a:prstGeom prst="rect">
            <a:avLst/>
          </a:prstGeom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Gap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candidates act as both examinees AND invigilators. No prior work formally encodes this conflict as a hard constraint.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651760" cy="2331720"/>
          </a:xfrm>
          <a:prstGeom prst="rect">
            <a:avLst/>
          </a:prstGeom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Overlooked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ignore workload fairness for junior faculty. Disproportionate invigilation duties remain unaddressed.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C"/>
                </a:solidFill>
              </a:rPr>
              <a:t>Slide 1 of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Literature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streams of prior work — and where this paper fits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224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422452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2070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207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Benchmarks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9961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et al. (1996) established the Toronto/Carter benchmark suite. Burke &amp; Newall (2004) showed adaptive heuristic ordering achieves state-of-the-art. Key gap: benchmarks are uncapacitated — no rooms, no invigilators.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24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2452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070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57216" y="1207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149961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algorithms, Tabu Search, ILS, and ACO dominate the literature (Tung 2021; Mandal 2020; Ghaffar 2025). Hybrid designs outperform pure GA. Near-universal absence of fairness and invigilator modelling.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224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422452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081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" y="3081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Programming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37413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CP/SAT solvers (OR-Tools) bridge theoretical CP and practical performance. Alrawashdeh et al. validated CP for real institutional data. LLMs + GNNs are emerging as warm-start tools (Bonlarron IJCAI-25).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1728" y="3063240"/>
            <a:ext cx="4224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3063240"/>
            <a:ext cx="422452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81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57216" y="3081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&amp; Fairness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337413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Bazari et al. modelled professor conflicts via MIP. Comlan &amp; Allohoumbo acknowledge dual-role PhD conflicts but use manual rules. Gultekin et al. treat fairness as soft post-processing. This work is first to formally encode both as exact CP hard/soft constraints.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Slide 2 of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CSOP formulation solved with Google OR-Tools CP-SAT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14800" cy="3657600"/>
          </a:xfrm>
          <a:prstGeom prst="rect">
            <a:avLst/>
          </a:prstGeom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931920" cy="292608"/>
          </a:xfrm>
          <a:prstGeom prst="rect">
            <a:avLst/>
          </a:prstGeom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No student time conflict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3931920" cy="292608"/>
          </a:xfrm>
          <a:prstGeom prst="rect">
            <a:avLst/>
          </a:prstGeom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Room capacity &amp; online routing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3931920" cy="292608"/>
          </a:xfrm>
          <a:prstGeom prst="rect">
            <a:avLst/>
          </a:prstGeom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No room clash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42616"/>
            <a:ext cx="3931920" cy="292608"/>
          </a:xfrm>
          <a:prstGeom prst="rect">
            <a:avLst/>
          </a:prstGeom>
          <a:solidFill>
            <a:srgbClr val="0F3D4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60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Dual-role instructor conflict  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90088"/>
            <a:ext cx="3931920" cy="292608"/>
          </a:xfrm>
          <a:prstGeom prst="rect">
            <a:avLst/>
          </a:prstGeom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08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 No double invigilation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3931920" cy="292608"/>
          </a:xfrm>
          <a:prstGeom prst="rect">
            <a:avLst/>
          </a:prstGeom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 Min. invigilator count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3730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Soft: S1 Time pref · S2 Fairness (min-max) · S3 Consec. invigilation · S4 Day gap · S5 Anti-fragmentation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4343400" cy="3657600"/>
          </a:xfrm>
          <a:prstGeom prst="rect">
            <a:avLst/>
          </a:prstGeom>
          <a:solidFill>
            <a:srgbClr val="1E3558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234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4160520" cy="1143000"/>
          </a:xfrm>
          <a:prstGeom prst="rect">
            <a:avLst/>
          </a:prstGeom>
          <a:solidFill>
            <a:srgbClr val="253F6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Carter/Toronto Suite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benchmark instances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231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80–189 exams · 549–2,823 students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71800"/>
            <a:ext cx="4160520" cy="1143000"/>
          </a:xfrm>
          <a:prstGeom prst="rect">
            <a:avLst/>
          </a:prstGeom>
          <a:solidFill>
            <a:srgbClr val="253F6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X (Real)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319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Okan Univ. Fall 2024-25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5570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exams · 36 instructors (25 dual-role)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rooms · 62 timeslots · 8 exam days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4160520" cy="914400"/>
          </a:xfrm>
          <a:prstGeom prst="rect">
            <a:avLst/>
          </a:prstGeom>
          <a:solidFill>
            <a:srgbClr val="0F2035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2219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Google OR-Tools CP-SAT  |  600 s limit  |  AC-3 propagation  |  LNS + Branch-and-Bound  |  Objective: min w₁S1 + w₂S2 + w₃S3 + w₄S4 + S5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C"/>
                </a:solidFill>
              </a:rPr>
              <a:t>Slide 3 of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benchmarks + real-world deployment + ablation study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0116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(all instances)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20116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gap (min-max)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of 4 benchmarks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20116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OPTIMAL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hec-s-92 (80 exams)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1143000"/>
            <a:ext cx="20116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violations (H4)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runs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606040"/>
            <a:ext cx="5257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670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Benchmark Summary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90088"/>
          <a:ext cx="5074920" cy="192024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11887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hec-s-92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sta-f-83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yor-f-83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ear-f-83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2606040"/>
            <a:ext cx="32461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60720" y="26700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303580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08192" y="303580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splitting: 446-student exam split across 14 classrooms simultaneously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760720" y="351129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08192" y="351129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ear-f-83 fairness collapse (gap 21) = structural saturation, not solver failure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60720" y="39867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🔬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08192" y="398678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enabled: +42.6% objective degradation due to ~236K auxiliary variables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60720" y="44622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08192" y="446227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boundary: ~300 exams for monolithic formulation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2860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‡ Structural saturation: all 45 timeslots + 20 rooms fully occupied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7240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Slide 4 of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Fairness-Aware Exam Timetabling</dc:title>
  <dc:subject>PptxGenJS Presentation</dc:subject>
  <dc:creator>PptxGenJS</dc:creator>
  <cp:lastModifiedBy>PptxGenJS</cp:lastModifiedBy>
  <cp:revision>1</cp:revision>
  <dcterms:created xsi:type="dcterms:W3CDTF">2026-04-13T03:28:45Z</dcterms:created>
  <dcterms:modified xsi:type="dcterms:W3CDTF">2026-04-13T03:28:45Z</dcterms:modified>
</cp:coreProperties>
</file>