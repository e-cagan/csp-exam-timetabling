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4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2" d="100"/>
          <a:sy n="52" d="100"/>
        </p:scale>
        <p:origin x="7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AA6D7-155A-7706-5DD2-827BA9664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DB5CD-D5F7-2261-C82B-C55D18500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58639-51F7-8458-7F69-638994969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64E7-DCD7-4AB3-A57C-13CCCF666A4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AD0DA-51C5-5C34-89CE-E737A2F15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CA1F4-441E-8A7E-01E3-6F63AE988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61A5-CA6D-41B2-90B8-89A36A9BD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24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ECFE5-A17B-321D-B0A4-6F45DBB0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C6850-1906-944E-4242-99CBB5B99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9F9A2-5E2D-3224-9F8C-25AD446B8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64E7-DCD7-4AB3-A57C-13CCCF666A4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7F5F6-346F-564B-1B0C-DAB658469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8694D-FCF8-547A-FD54-DDB9D508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61A5-CA6D-41B2-90B8-89A36A9BD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3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04D16-CBA0-40CC-CC2E-1CA17079E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834B-67B7-1B5B-94BC-F3CC58949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5990-8DF9-2654-FAC7-CCC315C53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64E7-DCD7-4AB3-A57C-13CCCF666A4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0CAE9-3665-F23D-19BF-27749B2DF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0AC2-D404-063A-2BBB-6857926C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61A5-CA6D-41B2-90B8-89A36A9BD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025A-1C76-2964-62CA-16245B6B1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0A9B7-7F93-84B5-A0ED-C20D57561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AA1B8-95F9-B475-B0E1-C656A436E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044FE-538D-8B55-7459-AD196D40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64E7-DCD7-4AB3-A57C-13CCCF666A4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7240A-84E1-79BC-D34B-0E2CC9722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A82A1-A09D-F52D-9F01-B1A4CA6B8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61A5-CA6D-41B2-90B8-89A36A9BD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40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21E5-44EA-9C34-652C-6B6236B91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0A51F-5CFC-CF51-FB7E-8A94E036C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ED4B6-2E5B-11A9-0CEF-4F8FA118B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63A1B-7C41-185B-3180-3FC8905B2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E3B6B1-C39B-5299-5E94-965285CF5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0AAB73-A1F9-4666-E28D-A98FFFF8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64E7-DCD7-4AB3-A57C-13CCCF666A4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9E2009-D63F-B191-8FBB-AA2E825C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3362F0-C6A1-BCCD-1A75-779557AC8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61A5-CA6D-41B2-90B8-89A36A9BD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57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C9F16-E2B0-A4D4-0DAD-411809F46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B7728-65DB-F037-7110-2DC722E59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64E7-DCD7-4AB3-A57C-13CCCF666A4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B8BC7-21D1-7DB8-30DE-F5684BB09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D9BFF-B081-9051-0A83-C3CCFEC4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61A5-CA6D-41B2-90B8-89A36A9BD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8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2B77D-16DE-1F33-212B-A76213BB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64E7-DCD7-4AB3-A57C-13CCCF666A4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73EEB4-A3D3-4F2A-4A13-E86DF427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50A38-3054-7616-B864-C1D06724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61A5-CA6D-41B2-90B8-89A36A9BD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0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E17C-14D9-6845-CC53-81DA25EC8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85996-9384-2B0C-5300-255ED0598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8DE99-DE1B-36A1-F7D4-6BBF1B426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00EF-6AB5-559E-F882-611296C9B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64E7-DCD7-4AB3-A57C-13CCCF666A4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092DF-5A51-6D75-9307-4718E89C9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9373E-13E0-E25E-545A-89EF682D8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61A5-CA6D-41B2-90B8-89A36A9BD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78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20355-A482-5C75-7C37-A371E130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8E64F1-C93D-5F53-4BB0-56E72D0D0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7C133-8965-C0FA-78DB-EEC6AD10B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8FF90-6A75-BEF2-4679-C879E023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64E7-DCD7-4AB3-A57C-13CCCF666A4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361CC-210B-7846-1A33-2095D7DA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823BF-049B-B450-6FC9-A8F7828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61A5-CA6D-41B2-90B8-89A36A9BD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9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31CFA-8CC9-FE7F-F7E4-D43B3788E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31BFE-BD8D-6EE5-4059-743E459FC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618EA-8A2D-0F29-2757-76D7020F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64E7-DCD7-4AB3-A57C-13CCCF666A4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083BB-1BA3-F94C-9FEA-2E593E23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369D6-F9D6-F2A5-42BB-036CEAAE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61A5-CA6D-41B2-90B8-89A36A9BD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00CBC8-C9F8-EC88-867E-CAA142673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F65B8-AEEE-18FE-7F73-3BE55AEA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05A2C-10BD-5013-74EE-5FB4D3FAE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64E7-DCD7-4AB3-A57C-13CCCF666A4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34AFC-E31A-6726-4159-597274B8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9CA45-B161-56A8-7455-51996208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61A5-CA6D-41B2-90B8-89A36A9BD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60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BB8EA9-1816-822B-A457-79EFB13E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3F9A3-D6C2-2BDF-348F-506E78BCC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A535B-6767-C382-E76E-7EB108FFB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564E7-DCD7-4AB3-A57C-13CCCF666A4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7CE6E-D8F0-84EA-4A9E-1A3148AB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E5A3C-0FA8-351B-AB53-CC0E21A9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A61A5-CA6D-41B2-90B8-89A36A9BD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2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542CF-DFCB-128C-D1E6-70DBB1AA4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0501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Project Topic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003B9-0002-37FC-9FD9-DAC73CAEA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286" y="1921924"/>
            <a:ext cx="10515600" cy="136002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A Fairness-Aware Constraint Satisfaction Framework for University Exam Timetabling with Dual-Role Instructor Conflict Modeling</a:t>
            </a:r>
            <a:br>
              <a:rPr lang="en-US" sz="3600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</a:br>
            <a:endParaRPr lang="en-US" sz="3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E50142-9A4A-A276-F11F-EB3872A5896C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FA7913-8DF4-BCE6-13D8-421E6ED58FDF}"/>
              </a:ext>
            </a:extLst>
          </p:cNvPr>
          <p:cNvSpPr txBox="1">
            <a:spLocks/>
          </p:cNvSpPr>
          <p:nvPr/>
        </p:nvSpPr>
        <p:spPr>
          <a:xfrm>
            <a:off x="833286" y="4332852"/>
            <a:ext cx="10515600" cy="13600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Yusuf   </a:t>
            </a:r>
            <a:r>
              <a:rPr lang="en-US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Garga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Bello           253307010                        </a:t>
            </a:r>
            <a:r>
              <a:rPr lang="en-US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Jibrailu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Daniel                  253307013        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Emin </a:t>
            </a:r>
            <a:r>
              <a:rPr lang="en-US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Çağan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Apaydın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220212054                        </a:t>
            </a:r>
            <a:r>
              <a:rPr lang="en-US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Atakan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Onay                     210212051           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Nevşin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Nağaş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210212039                        </a:t>
            </a:r>
            <a:r>
              <a:rPr lang="en-US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Sudenur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Yanık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220212023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Mutaz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Wael                        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220212311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69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Trebuchet MS" panose="020B0603020202020204" pitchFamily="34" charset="0"/>
              </a:rPr>
              <a:t>University Exam Timetabling (UET) is a multi-dimensional optimization problem. While traditional automated systems focus on student-centered constraints and physical resources like room capacity, they frequently overlook the human resource bottleneck involving faculty members. This research introduces a specialized framework to address the "Dual-Role" burden placed on academic staff during examination periods.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620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Trebuchet MS" panose="020B0603020202020204" pitchFamily="34" charset="0"/>
              </a:rPr>
              <a:t>Statement of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 fontScale="47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5100" dirty="0">
                <a:latin typeface="Trebuchet MS" panose="020B0603020202020204" pitchFamily="34" charset="0"/>
              </a:rPr>
              <a:t>In many academic institutions, an instructor must fulfill two conflicting roles simultaneously: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5100" dirty="0">
                <a:latin typeface="Trebuchet MS" panose="020B0603020202020204" pitchFamily="34" charset="0"/>
              </a:rPr>
              <a:t>The Subject Expert: Being available to clarify questions or handle errors for their own scheduled exam.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5100" dirty="0">
                <a:latin typeface="Trebuchet MS" panose="020B0603020202020204" pitchFamily="34" charset="0"/>
              </a:rPr>
              <a:t>The Invigilator: Being physically present to proctor a different, unrelated exam.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5100" dirty="0">
                <a:latin typeface="Trebuchet MS" panose="020B0603020202020204" pitchFamily="34" charset="0"/>
              </a:rPr>
              <a:t>When these roles overlap or occur in different locations, it creates administrative friction and compromises exam integrity. Furthermore, "fairness" is often ignored in current systems; some faculty members are overburdened with proctoring duties while others are under-utilized. There is a critical need for a framework that treats instructor roles as primary constraints and optimizes for workload equity.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040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Research Questions</a:t>
            </a:r>
            <a:endParaRPr lang="en-US" sz="3600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 lnSpcReduction="10000"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what extent can the "Dual-Role" instructor conflict be formalized as a hard constraint within a CSP framework without making the problem computationally unsolvable?</a:t>
            </a:r>
            <a:endParaRPr lang="en-US" kern="100" dirty="0"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does the integration of a "Fairness-Aware" objective function in a Weighted CSP (WCSP) impact the distribution of invigilation workloads compared to traditional models?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the trade-off between "Optimal Fairness" and "Computational Efficiency" when solving large-scale university exam instances?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69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Aim</a:t>
            </a:r>
            <a:endParaRPr lang="en-US" sz="3600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To develop a Constraint Satisfaction Framework that generates feasible university exam schedules while resolving dual-role instructor conflicts and ensuring an equitable distribution of duties</a:t>
            </a:r>
            <a:endParaRPr lang="en-US" dirty="0">
              <a:latin typeface="Trebuchet MS" panose="020B0603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538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Objectives</a:t>
            </a:r>
            <a:endParaRPr lang="en-US" sz="3600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formally model "Dual-Role" instructor requirements as a set of hard constraints within a CSP.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design a </a:t>
            </a:r>
            <a:r>
              <a:rPr lang="en-US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Fairness Metric</a:t>
            </a: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(e.g., Variance Analysis) to quantify and minimize workload inequity among faculty.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implement a hybrid solver combining</a:t>
            </a:r>
            <a:r>
              <a:rPr lang="en-US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Backtracking Search </a:t>
            </a: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</a:t>
            </a:r>
            <a:r>
              <a:rPr lang="en-US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Constraint Propagation </a:t>
            </a: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 Search </a:t>
            </a: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optimization.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evaluate the framework's performance using standard benchmark datasets and simulated instructor profiles.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77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>
            <a:norm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</a:t>
            </a:r>
            <a:endParaRPr lang="en-US" sz="3600" kern="100" dirty="0">
              <a:solidFill>
                <a:srgbClr val="0070C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700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research will follow a structured computational approach: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700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1: Knowledge Engineering:</a:t>
            </a:r>
            <a:r>
              <a:rPr lang="en-US" sz="2700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Define variables (Exams, Instructors, Timeslots, Rooms) and mathematical relationships.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700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2: Framework Development:</a:t>
            </a:r>
            <a:r>
              <a:rPr lang="en-US" sz="2700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Build the core solver using Python, implementing logic for "Dual-Role" exclusion.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700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3: Fairness Optimization:</a:t>
            </a:r>
            <a:r>
              <a:rPr lang="en-US" sz="2700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Integrate an optimization layer to reshuffle invigilation assignments to balance the workload.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700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4: Validation:</a:t>
            </a:r>
            <a:r>
              <a:rPr lang="en-US" sz="2700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Test the system against large-scale instances to measure solving time and the Fairness Index.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238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>
            <a:norm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Dataset to use</a:t>
            </a:r>
            <a:endParaRPr lang="en-US" sz="3600" kern="100" dirty="0">
              <a:solidFill>
                <a:srgbClr val="0070C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b="1" kern="100" dirty="0">
                <a:solidFill>
                  <a:srgbClr val="00206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●</a:t>
            </a:r>
            <a:r>
              <a:rPr lang="en-US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Toronto Benchmark Data (Carter's Dataset):</a:t>
            </a: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standard set of 13 real-world exam scheduling problems providing student-course enrollment data.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b="1" kern="100" dirty="0">
                <a:solidFill>
                  <a:srgbClr val="00206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●</a:t>
            </a:r>
            <a:r>
              <a:rPr lang="en-US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Okan University Data</a:t>
            </a:r>
            <a:endParaRPr lang="en-US" kern="1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642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Model/Algorithm/Techniques to use their Justification</a:t>
            </a:r>
            <a:endParaRPr lang="en-US" sz="3200" kern="100" dirty="0">
              <a:solidFill>
                <a:srgbClr val="0070C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Model (The mathematical representation of the problem)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dirty="0">
                <a:latin typeface="Trebuchet MS" panose="020B0603020202020204" pitchFamily="34" charset="0"/>
              </a:rPr>
              <a:t>Standard CSP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dirty="0">
                <a:latin typeface="Trebuchet MS" panose="020B0603020202020204" pitchFamily="34" charset="0"/>
              </a:rPr>
              <a:t>Weighted CSP (WCSP)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Algorithm (The method used to find a solution)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dirty="0">
                <a:latin typeface="Trebuchet MS" panose="020B0603020202020204" pitchFamily="34" charset="0"/>
              </a:rPr>
              <a:t>Backtracking 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dirty="0">
                <a:latin typeface="Trebuchet MS" panose="020B0603020202020204" pitchFamily="34" charset="0"/>
              </a:rPr>
              <a:t>Simulated Annealing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Techniques / Heuristics (Strategies used to improve the algorithm)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dirty="0">
                <a:latin typeface="Trebuchet MS" panose="020B0603020202020204" pitchFamily="34" charset="0"/>
              </a:rPr>
              <a:t>Minimum Remaining Values (MRV) 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dirty="0">
                <a:latin typeface="Trebuchet MS" panose="020B0603020202020204" pitchFamily="34" charset="0"/>
              </a:rPr>
              <a:t>AC-3 (Arc Consistency)</a:t>
            </a:r>
            <a:endParaRPr lang="en-US" sz="2400" kern="1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051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>
            <a:norm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Standard Constraint Satisfaction Problem</a:t>
            </a:r>
            <a:endParaRPr lang="en-US" sz="3600" kern="100" dirty="0">
              <a:solidFill>
                <a:srgbClr val="0070C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b="1" dirty="0">
                <a:solidFill>
                  <a:srgbClr val="00206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Explanation</a:t>
            </a:r>
            <a:endParaRPr lang="en-US" dirty="0">
              <a:solidFill>
                <a:srgbClr val="00206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A model defined by variables, domains, and mandatory rules.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b="1" dirty="0">
              <a:effectLst/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b="1" dirty="0">
                <a:solidFill>
                  <a:srgbClr val="00206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Justification for Use</a:t>
            </a:r>
            <a:endParaRPr lang="en-US" dirty="0">
              <a:solidFill>
                <a:srgbClr val="002060"/>
              </a:solidFill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Used for </a:t>
            </a:r>
            <a:r>
              <a:rPr lang="en-US" b="1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Hard Constraints</a:t>
            </a: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 (Student overlaps, Room capacity, Dual-Role exclusion).domains, and mandatory rules.</a:t>
            </a:r>
            <a:endParaRPr lang="en-US" kern="1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750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Weighted  Constraint Satisfaction Problem (WCSP)</a:t>
            </a:r>
            <a:endParaRPr lang="en-US" sz="3200" kern="100" dirty="0">
              <a:solidFill>
                <a:srgbClr val="0070C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b="1" dirty="0">
                <a:solidFill>
                  <a:srgbClr val="00206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Explanation</a:t>
            </a:r>
            <a:endParaRPr lang="en-US" dirty="0">
              <a:solidFill>
                <a:srgbClr val="00206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An extension where constraints are assigned "weights" or "costs.“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b="1" dirty="0">
              <a:solidFill>
                <a:srgbClr val="00206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b="1" dirty="0">
                <a:solidFill>
                  <a:srgbClr val="00206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Justification for Use</a:t>
            </a:r>
            <a:endParaRPr lang="en-US" dirty="0">
              <a:solidFill>
                <a:srgbClr val="002060"/>
              </a:solidFill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Essential for </a:t>
            </a:r>
            <a:r>
              <a:rPr lang="en-US" b="1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Fairness-Aware</a:t>
            </a: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 modeling; it treats workload balance as a soft constraint to be optimized.</a:t>
            </a:r>
            <a:endParaRPr lang="en-US" kern="1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820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Backtracking with Minimum Remaining Values (MRV)</a:t>
            </a:r>
            <a:endParaRPr lang="en-US" sz="3200" kern="100" dirty="0">
              <a:solidFill>
                <a:srgbClr val="0070C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b="1" dirty="0">
                <a:solidFill>
                  <a:srgbClr val="00206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Explanation</a:t>
            </a:r>
            <a:endParaRPr lang="en-US" dirty="0">
              <a:solidFill>
                <a:srgbClr val="00206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Search algorithm picking the most "restricted" variable first.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b="1" dirty="0">
              <a:solidFill>
                <a:srgbClr val="00206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b="1" dirty="0">
                <a:solidFill>
                  <a:srgbClr val="00206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Justification for Use</a:t>
            </a:r>
            <a:endParaRPr lang="en-US" dirty="0">
              <a:solidFill>
                <a:srgbClr val="002060"/>
              </a:solidFill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Reduces search space by dealing with the "hardest" exams first, increasing solving speed</a:t>
            </a:r>
            <a:endParaRPr lang="en-US" kern="1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4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>
            <a:norm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AC-3 (Arc Consistency)</a:t>
            </a:r>
            <a:endParaRPr lang="en-US" sz="3600" kern="100" dirty="0">
              <a:solidFill>
                <a:srgbClr val="0070C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b="1" dirty="0">
                <a:solidFill>
                  <a:srgbClr val="00206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Explanation</a:t>
            </a:r>
            <a:endParaRPr lang="en-US" dirty="0">
              <a:solidFill>
                <a:srgbClr val="00206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A propagation algorithm that removes values ​​that cannot lead to a solution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b="1" dirty="0">
              <a:solidFill>
                <a:srgbClr val="00206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b="1" dirty="0">
                <a:solidFill>
                  <a:srgbClr val="00206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Justification for Use</a:t>
            </a:r>
            <a:endParaRPr lang="en-US" dirty="0">
              <a:solidFill>
                <a:srgbClr val="002060"/>
              </a:solidFill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Essential for </a:t>
            </a:r>
            <a:r>
              <a:rPr lang="en-US" b="1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Efficiency.</a:t>
            </a: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 It catches "Dual-Role" conflicts early, preventing invalid schedule branches</a:t>
            </a:r>
            <a:endParaRPr lang="en-US" kern="1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832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>
            <a:norm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Simulated Annealing</a:t>
            </a:r>
            <a:endParaRPr lang="en-US" sz="3600" kern="100" dirty="0">
              <a:solidFill>
                <a:srgbClr val="0070C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b="1" dirty="0">
                <a:solidFill>
                  <a:srgbClr val="00206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Explanation</a:t>
            </a:r>
            <a:endParaRPr lang="en-US" dirty="0">
              <a:solidFill>
                <a:srgbClr val="00206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A probabilistic technique for approximating a global optimum.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b="1" dirty="0">
              <a:solidFill>
                <a:srgbClr val="00206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b="1" dirty="0">
                <a:solidFill>
                  <a:srgbClr val="00206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Justification for Use</a:t>
            </a:r>
            <a:endParaRPr lang="en-US" dirty="0">
              <a:solidFill>
                <a:srgbClr val="002060"/>
              </a:solidFill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Used for the </a:t>
            </a:r>
            <a:r>
              <a:rPr lang="en-US" b="1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Fairness Optimization</a:t>
            </a:r>
            <a:r>
              <a:rPr lang="en-US" dirty="0"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 layer to "shuffle" assignments toward a more equitable state.</a:t>
            </a:r>
            <a:endParaRPr lang="en-US" kern="1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847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>
            <a:norm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Expected outcomes</a:t>
            </a:r>
            <a:endParaRPr lang="en-US" sz="3600" kern="100" dirty="0">
              <a:solidFill>
                <a:srgbClr val="0070C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Formalized Dual-Role Logic:</a:t>
            </a: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mathematical mapping of the intersection between an instructor's "Expert" and "Invigilator" roles.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Balanced Timetable:</a:t>
            </a: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schedule satisfying all hard constraints while achieving high equity.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Trade-off Analysis:</a:t>
            </a:r>
            <a:r>
              <a:rPr lang="en-US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Quantitative evidence of how "Fairness" impacts system performance.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5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CE9-2F35-49B2-F4B6-D3DF007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810"/>
            <a:ext cx="10515600" cy="1325563"/>
          </a:xfrm>
        </p:spPr>
        <p:txBody>
          <a:bodyPr>
            <a:norm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</a:rPr>
              <a:t>Future Scope and Conclusion</a:t>
            </a:r>
            <a:endParaRPr lang="en-US" sz="3600" kern="100" dirty="0">
              <a:solidFill>
                <a:srgbClr val="0070C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B256-05EE-8FC5-E27A-95D44CDA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4"/>
            <a:ext cx="10515600" cy="4351338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000" kern="1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research provides a foundation for advanced extensions, such as multi-campus travel-time modeling and dynamic re-scheduling for last-minute emergencies. By transitioning from a standard CSP to a Weighted CSP, this framework moves beyond "clash-free" scheduling toward a human-centric approach that protects faculty wellbeing while maintaining academic integrity.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0A49E-B57F-8C38-D9A1-7333A87371B6}"/>
              </a:ext>
            </a:extLst>
          </p:cNvPr>
          <p:cNvCxnSpPr>
            <a:cxnSpLocks/>
          </p:cNvCxnSpPr>
          <p:nvPr/>
        </p:nvCxnSpPr>
        <p:spPr>
          <a:xfrm>
            <a:off x="221228" y="1165120"/>
            <a:ext cx="11739716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201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875</Words>
  <Application>Microsoft Office PowerPoint</Application>
  <PresentationFormat>Widescreen</PresentationFormat>
  <Paragraphs>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Times New Roman</vt:lpstr>
      <vt:lpstr>Trebuchet MS</vt:lpstr>
      <vt:lpstr>Office Theme</vt:lpstr>
      <vt:lpstr>Project Topic</vt:lpstr>
      <vt:lpstr>Introduction </vt:lpstr>
      <vt:lpstr>Statement of the Problem</vt:lpstr>
      <vt:lpstr>Research Questions</vt:lpstr>
      <vt:lpstr>Aim</vt:lpstr>
      <vt:lpstr>Objectives</vt:lpstr>
      <vt:lpstr>Methodology</vt:lpstr>
      <vt:lpstr>Dataset to use</vt:lpstr>
      <vt:lpstr>Model/Algorithm/Techniques to use their Justification</vt:lpstr>
      <vt:lpstr>Standard Constraint Satisfaction Problem</vt:lpstr>
      <vt:lpstr>Weighted  Constraint Satisfaction Problem (WCSP)</vt:lpstr>
      <vt:lpstr>Backtracking with Minimum Remaining Values (MRV)</vt:lpstr>
      <vt:lpstr>AC-3 (Arc Consistency)</vt:lpstr>
      <vt:lpstr>Simulated Annealing</vt:lpstr>
      <vt:lpstr>Expected outcomes</vt:lpstr>
      <vt:lpstr>Future Scope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20</cp:revision>
  <dcterms:created xsi:type="dcterms:W3CDTF">2026-03-08T19:49:27Z</dcterms:created>
  <dcterms:modified xsi:type="dcterms:W3CDTF">2026-03-08T23:11:37Z</dcterms:modified>
</cp:coreProperties>
</file>