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trictFirstAndLastChars="0">
  <p:sldMasterIdLst>
    <p:sldMasterId id="2147483650" r:id="rId1"/>
  </p:sldMasterIdLst>
  <p:notesMasterIdLst>
    <p:notesMasterId r:id="rId2"/>
  </p:notesMasterIdLst>
  <p:sldIdLst>
    <p:sldId id="268" r:id="rId3"/>
    <p:sldId id="269" r:id="rId4"/>
    <p:sldId id="270" r:id="rId5"/>
    <p:sldId id="271" r:id="rId6"/>
    <p:sldId id="272" r:id="rId7"/>
  </p:sldIdLst>
  <p:sldSz type="screen16x9" cy="5143500" cx="9144000"/>
  <p:notesSz cx="51435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96" y="5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tableStyles" Target="tableStyle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5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10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11" name="Google Shape;5;n"/>
          <p:cNvSpPr>
            <a:spLocks noChangeAspect="1" noRot="1" noGrp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12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228600" lvl="1" marL="914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228600" lvl="2" marL="1371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228600" lvl="3" marL="1828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228600" lvl="4" marL="22860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228600" lvl="5" marL="2743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228600" lvl="6" marL="3200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228600" lvl="7" marL="3657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228600" lvl="8" marL="4114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1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14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cap="none" sz="12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Google Shape;12;p1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00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1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40;p2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23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4" name="Google Shape;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65;p3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38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9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Google Shape;245;p7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65" name="Google Shape;2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6" name="Google Shape;24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Google Shape;380;p10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07" name="Google Shape;38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8" name="Google Shape;38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9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hlink="hlink" folHlink="folHlink"/>
  <p:sldLayoutIdLst>
    <p:sldLayoutId id="2147483651" r:id="rId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0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6;p3"/>
          <p:cNvSpPr/>
          <p:nvPr/>
        </p:nvSpPr>
        <p:spPr>
          <a:xfrm>
            <a:off x="0" y="0"/>
            <a:ext cx="457200" cy="5143500"/>
          </a:xfrm>
          <a:prstGeom prst="rect"/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77" name="Google Shape;17;p3"/>
          <p:cNvSpPr/>
          <p:nvPr/>
        </p:nvSpPr>
        <p:spPr>
          <a:xfrm>
            <a:off x="7132320" y="-548640"/>
            <a:ext cx="3200400" cy="32004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A7E8C">
              <a:alpha val="14901"/>
            </a:srgbClr>
          </a:solidFill>
          <a:ln w="12700" cap="flat" cmpd="sng">
            <a:solidFill>
              <a:srgbClr val="12A8BA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78" name="Google Shape;18;p3"/>
          <p:cNvSpPr/>
          <p:nvPr/>
        </p:nvSpPr>
        <p:spPr>
          <a:xfrm>
            <a:off x="7680960" y="182880"/>
            <a:ext cx="1828800" cy="18288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01C">
              <a:alpha val="10196"/>
            </a:srgbClr>
          </a:solidFill>
          <a:ln w="12700" cap="flat" cmpd="sng">
            <a:solidFill>
              <a:srgbClr val="F4A01C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79" name="Google Shape;19;p3"/>
          <p:cNvSpPr/>
          <p:nvPr/>
        </p:nvSpPr>
        <p:spPr>
          <a:xfrm>
            <a:off x="731520" y="365760"/>
            <a:ext cx="2286000" cy="292608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0" name="Google Shape;20;p3"/>
          <p:cNvSpPr/>
          <p:nvPr/>
        </p:nvSpPr>
        <p:spPr>
          <a:xfrm>
            <a:off x="731520" y="365760"/>
            <a:ext cx="2286000" cy="292608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dirty="0" sz="750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6: </a:t>
            </a:r>
            <a:r>
              <a:rPr b="1" cap="none" dirty="0" sz="75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PRESENTATION</a:t>
            </a:r>
            <a:endParaRPr b="0" cap="none" dirty="0" sz="7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1" name="Google Shape;21;p3"/>
          <p:cNvSpPr/>
          <p:nvPr/>
        </p:nvSpPr>
        <p:spPr>
          <a:xfrm>
            <a:off x="731520" y="822960"/>
            <a:ext cx="8046720" cy="118872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cap="none" dirty="0" sz="34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Fairness-Aware Constraint</a:t>
            </a:r>
            <a:endParaRPr b="0" cap="none" dirty="0" sz="34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cap="none" dirty="0" sz="34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Satisfaction Framework</a:t>
            </a:r>
            <a:endParaRPr b="0" cap="none" dirty="0" sz="34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2" name="Google Shape;22;p3"/>
          <p:cNvSpPr/>
          <p:nvPr/>
        </p:nvSpPr>
        <p:spPr>
          <a:xfrm>
            <a:off x="731520" y="1965960"/>
            <a:ext cx="7772400" cy="7772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12A8BA"/>
              </a:buClr>
              <a:buSzPts val="1800"/>
              <a:buFont typeface="Calibri"/>
              <a:buNone/>
            </a:pPr>
            <a:r>
              <a:rPr b="0" cap="none" dirty="0" sz="1800" i="0" lang="en-US" strike="noStrike" u="none">
                <a:solidFill>
                  <a:srgbClr val="12A8BA"/>
                </a:solidFill>
                <a:latin typeface="Calibri"/>
                <a:ea typeface="Calibri"/>
                <a:cs typeface="Calibri"/>
                <a:sym typeface="Calibri"/>
              </a:rPr>
              <a:t>for University Exam Timetabling with</a:t>
            </a:r>
            <a:endParaRPr b="0" cap="none" dirty="0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12A8BA"/>
              </a:buClr>
              <a:buSzPts val="1800"/>
              <a:buFont typeface="Calibri"/>
              <a:buNone/>
            </a:pPr>
            <a:r>
              <a:rPr b="0" cap="none" dirty="0" sz="1800" i="0" lang="en-US" strike="noStrike" u="none">
                <a:solidFill>
                  <a:srgbClr val="12A8BA"/>
                </a:solidFill>
                <a:latin typeface="Calibri"/>
                <a:ea typeface="Calibri"/>
                <a:cs typeface="Calibri"/>
                <a:sym typeface="Calibri"/>
              </a:rPr>
              <a:t>Dual-Role Instructor Conflict Modeling</a:t>
            </a:r>
            <a:endParaRPr b="0" cap="none" dirty="0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3" name="Google Shape;23;p3"/>
          <p:cNvSpPr/>
          <p:nvPr/>
        </p:nvSpPr>
        <p:spPr>
          <a:xfrm>
            <a:off x="2242605" y="2834640"/>
            <a:ext cx="5029200" cy="36576"/>
          </a:xfrm>
          <a:prstGeom prst="rect"/>
          <a:solidFill>
            <a:srgbClr val="F4A01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4" name="Google Shape;24;p3"/>
          <p:cNvSpPr/>
          <p:nvPr/>
        </p:nvSpPr>
        <p:spPr>
          <a:xfrm>
            <a:off x="731520" y="2926080"/>
            <a:ext cx="8229600" cy="50292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cap="none" dirty="0" sz="10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Jibrailu Daniel · Yusuf Garga Bello · Emin </a:t>
            </a:r>
            <a:r>
              <a:rPr b="0" cap="none" dirty="0" sz="1050" i="0" lang="en-US" err="1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Çağan</a:t>
            </a:r>
            <a:r>
              <a:rPr b="0" cap="none" dirty="0" sz="10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Apaydın · Atakan Onay</a:t>
            </a:r>
            <a:endParaRPr b="0" cap="none" dirty="0" sz="10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cap="none" dirty="0" sz="10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Mutaz Wael · </a:t>
            </a:r>
            <a:r>
              <a:rPr b="0" cap="none" dirty="0" sz="1050" i="0" lang="en-US" err="1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Nevşin</a:t>
            </a:r>
            <a:r>
              <a:rPr b="0" cap="none" dirty="0" sz="10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cap="none" dirty="0" sz="1050" i="0" lang="en-US" err="1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Nagaş</a:t>
            </a:r>
            <a:r>
              <a:rPr b="0" cap="none" dirty="0" sz="10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· Sudenur </a:t>
            </a:r>
            <a:r>
              <a:rPr b="0" cap="none" dirty="0" sz="1050" i="0" lang="en-US" err="1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Yanık</a:t>
            </a:r>
            <a:endParaRPr b="0" cap="none" dirty="0" sz="10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5" name="Google Shape;25;p3"/>
          <p:cNvSpPr/>
          <p:nvPr/>
        </p:nvSpPr>
        <p:spPr>
          <a:xfrm>
            <a:off x="731520" y="3429000"/>
            <a:ext cx="8229600" cy="27432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cap="none" dirty="0" sz="950" i="0" lang="en-US" strike="noStrike" u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Istanbul Okan University · Computer Engineering Dept. · Istanbul, Türkiye</a:t>
            </a:r>
            <a:endParaRPr b="0" cap="none" dirty="0" sz="9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6" name="Google Shape;26;p3"/>
          <p:cNvSpPr/>
          <p:nvPr/>
        </p:nvSpPr>
        <p:spPr>
          <a:xfrm>
            <a:off x="731520" y="3977640"/>
            <a:ext cx="1920240" cy="868680"/>
          </a:xfrm>
          <a:prstGeom prst="rect"/>
          <a:solidFill>
            <a:schemeClr val="bg1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7" name="Google Shape;27;p3"/>
          <p:cNvSpPr/>
          <p:nvPr/>
        </p:nvSpPr>
        <p:spPr>
          <a:xfrm>
            <a:off x="731520" y="4005072"/>
            <a:ext cx="1920240" cy="36576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4A01C"/>
              </a:buClr>
              <a:buSzPts val="2600"/>
              <a:buFont typeface="Calibri"/>
              <a:buNone/>
            </a:pPr>
            <a:r>
              <a:rPr b="1" cap="none" sz="2600" i="0" lang="en-US" strike="noStrike" u="none">
                <a:solidFill>
                  <a:srgbClr val="F4A01C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endParaRPr b="0" cap="none" sz="26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8" name="Google Shape;28;p3"/>
          <p:cNvSpPr/>
          <p:nvPr/>
        </p:nvSpPr>
        <p:spPr>
          <a:xfrm>
            <a:off x="731520" y="4343400"/>
            <a:ext cx="1920240" cy="2286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cap="none" dirty="0" sz="90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Examinations</a:t>
            </a:r>
            <a:endParaRPr b="1" cap="none" dirty="0" sz="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9" name="Google Shape;29;p3"/>
          <p:cNvSpPr/>
          <p:nvPr/>
        </p:nvSpPr>
        <p:spPr>
          <a:xfrm>
            <a:off x="2834640" y="3977640"/>
            <a:ext cx="1920240" cy="868680"/>
          </a:xfrm>
          <a:prstGeom prst="rect"/>
          <a:solidFill>
            <a:schemeClr val="bg1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0" name="Google Shape;30;p3"/>
          <p:cNvSpPr/>
          <p:nvPr/>
        </p:nvSpPr>
        <p:spPr>
          <a:xfrm>
            <a:off x="2834640" y="4005072"/>
            <a:ext cx="1920240" cy="36576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4A01C"/>
              </a:buClr>
              <a:buSzPts val="2600"/>
              <a:buFont typeface="Calibri"/>
              <a:buNone/>
            </a:pPr>
            <a:r>
              <a:rPr b="1" cap="none" sz="2600" i="0" lang="en-US" strike="noStrike" u="none">
                <a:solidFill>
                  <a:srgbClr val="F4A01C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0" cap="none" sz="26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1" name="Google Shape;31;p3"/>
          <p:cNvSpPr/>
          <p:nvPr/>
        </p:nvSpPr>
        <p:spPr>
          <a:xfrm>
            <a:off x="2834640" y="4343400"/>
            <a:ext cx="1920240" cy="2286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cap="none" dirty="0" sz="90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Instructors</a:t>
            </a:r>
            <a:endParaRPr b="1" cap="none" dirty="0" sz="9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2" name="Google Shape;32;p3"/>
          <p:cNvSpPr/>
          <p:nvPr/>
        </p:nvSpPr>
        <p:spPr>
          <a:xfrm>
            <a:off x="4937760" y="3977640"/>
            <a:ext cx="1920240" cy="868680"/>
          </a:xfrm>
          <a:prstGeom prst="rect"/>
          <a:solidFill>
            <a:schemeClr val="bg1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3" name="Google Shape;33;p3"/>
          <p:cNvSpPr/>
          <p:nvPr/>
        </p:nvSpPr>
        <p:spPr>
          <a:xfrm>
            <a:off x="4937760" y="4005072"/>
            <a:ext cx="1920240" cy="36576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4A01C"/>
              </a:buClr>
              <a:buSzPts val="2600"/>
              <a:buFont typeface="Calibri"/>
              <a:buNone/>
            </a:pPr>
            <a:r>
              <a:rPr b="1" cap="none" sz="2600" i="0" lang="en-US" strike="noStrike" u="none">
                <a:solidFill>
                  <a:srgbClr val="F4A01C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cap="none" sz="26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4" name="Google Shape;34;p3"/>
          <p:cNvSpPr/>
          <p:nvPr/>
        </p:nvSpPr>
        <p:spPr>
          <a:xfrm>
            <a:off x="4937760" y="4343400"/>
            <a:ext cx="1920240" cy="2286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cap="none" dirty="0" sz="90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Dual-Role PhD</a:t>
            </a:r>
            <a:endParaRPr b="1" cap="none" dirty="0" sz="9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5" name="Google Shape;35;p3"/>
          <p:cNvSpPr/>
          <p:nvPr/>
        </p:nvSpPr>
        <p:spPr>
          <a:xfrm>
            <a:off x="7040880" y="3977640"/>
            <a:ext cx="1920240" cy="868680"/>
          </a:xfrm>
          <a:prstGeom prst="rect"/>
          <a:solidFill>
            <a:schemeClr val="bg1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6" name="Google Shape;36;p3"/>
          <p:cNvSpPr/>
          <p:nvPr/>
        </p:nvSpPr>
        <p:spPr>
          <a:xfrm>
            <a:off x="7040880" y="4005072"/>
            <a:ext cx="1920240" cy="36576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4A01C"/>
              </a:buClr>
              <a:buSzPts val="2600"/>
              <a:buFont typeface="Calibri"/>
              <a:buNone/>
            </a:pPr>
            <a:r>
              <a:rPr b="1" cap="none" sz="2600" i="0" lang="en-US" strike="noStrike" u="none">
                <a:solidFill>
                  <a:srgbClr val="F4A01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cap="none" sz="26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7" name="Google Shape;37;p3"/>
          <p:cNvSpPr/>
          <p:nvPr/>
        </p:nvSpPr>
        <p:spPr>
          <a:xfrm>
            <a:off x="7040880" y="4343400"/>
            <a:ext cx="1920240" cy="2286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cap="none" dirty="0" sz="90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Hard Violations</a:t>
            </a:r>
            <a:endParaRPr cap="none" dirty="0" sz="9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8" name="Google Shape;38;p3"/>
          <p:cNvSpPr/>
          <p:nvPr/>
        </p:nvSpPr>
        <p:spPr>
          <a:xfrm>
            <a:off x="8503920" y="4846320"/>
            <a:ext cx="548640" cy="18288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cap="none" sz="700" i="0" lang="en-US" strike="noStrike" u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 / 10</a:t>
            </a:r>
            <a:endParaRPr b="0" cap="none" sz="7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44;p4"/>
          <p:cNvSpPr/>
          <p:nvPr/>
        </p:nvSpPr>
        <p:spPr>
          <a:xfrm>
            <a:off x="0" y="0"/>
            <a:ext cx="9144000" cy="777240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3" name="Google Shape;45;p4"/>
          <p:cNvSpPr/>
          <p:nvPr/>
        </p:nvSpPr>
        <p:spPr>
          <a:xfrm>
            <a:off x="457200" y="0"/>
            <a:ext cx="8229600" cy="7772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cap="none" sz="26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cap="none" sz="26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4" name="Google Shape;46;p4"/>
          <p:cNvSpPr/>
          <p:nvPr/>
        </p:nvSpPr>
        <p:spPr>
          <a:xfrm>
            <a:off x="457200" y="0"/>
            <a:ext cx="7772400" cy="7772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Clr>
                <a:srgbClr val="C7ECF1"/>
              </a:buClr>
              <a:buSzPts val="1200"/>
              <a:buFont typeface="Calibri"/>
              <a:buNone/>
            </a:pPr>
            <a:r>
              <a:rPr b="0" cap="none" sz="1200" i="1" lang="en-US" strike="noStrike" u="none">
                <a:solidFill>
                  <a:srgbClr val="C7ECF1"/>
                </a:solidFill>
                <a:latin typeface="Calibri"/>
                <a:ea typeface="Calibri"/>
                <a:cs typeface="Calibri"/>
                <a:sym typeface="Calibri"/>
              </a:rPr>
              <a:t>Why Existing Approaches Fall Short</a:t>
            </a:r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5" name="Google Shape;47;p4"/>
          <p:cNvSpPr/>
          <p:nvPr/>
        </p:nvSpPr>
        <p:spPr>
          <a:xfrm>
            <a:off x="365760" y="960120"/>
            <a:ext cx="1873745" cy="108813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4A01C"/>
              </a:buClr>
              <a:buSzPts val="2000"/>
              <a:buFont typeface="Calibri"/>
              <a:buNone/>
            </a:pPr>
            <a:r>
              <a:rPr b="1" cap="none" dirty="0" sz="2000" i="0" lang="en-US" strike="noStrike" u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NP-Hard</a:t>
            </a:r>
            <a:endParaRPr b="0" cap="none" dirty="0" sz="2000" i="0" strike="noStrike" u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6" name="Google Shape;48;p4"/>
          <p:cNvSpPr/>
          <p:nvPr/>
        </p:nvSpPr>
        <p:spPr>
          <a:xfrm>
            <a:off x="2403787" y="960120"/>
            <a:ext cx="6273482" cy="1188720"/>
          </a:xfrm>
          <a:prstGeom prst="rect"/>
          <a:solidFill>
            <a:schemeClr val="bg2">
              <a:lumMod val="75000"/>
            </a:schemeClr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7" name="Google Shape;49;p4"/>
          <p:cNvSpPr/>
          <p:nvPr/>
        </p:nvSpPr>
        <p:spPr>
          <a:xfrm>
            <a:off x="2381314" y="960120"/>
            <a:ext cx="64008" cy="1188720"/>
          </a:xfrm>
          <a:prstGeom prst="rect"/>
          <a:solidFill>
            <a:srgbClr val="EF4444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8" name="Google Shape;50;p4"/>
          <p:cNvSpPr/>
          <p:nvPr/>
        </p:nvSpPr>
        <p:spPr>
          <a:xfrm>
            <a:off x="2471670" y="1056132"/>
            <a:ext cx="1097280" cy="20116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b="1" cap="none" dirty="0" sz="750" i="0" lang="en-US" strike="noStrike" u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GAP 01</a:t>
            </a:r>
            <a:endParaRPr b="0" cap="none" dirty="0" sz="7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9" name="Google Shape;51;p4"/>
          <p:cNvSpPr/>
          <p:nvPr/>
        </p:nvSpPr>
        <p:spPr>
          <a:xfrm>
            <a:off x="2478334" y="1202436"/>
            <a:ext cx="5074920" cy="25603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cap="none" dirty="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Dual-Role Conflicts</a:t>
            </a:r>
            <a:endParaRPr b="0" cap="none" dirty="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0" name="Google Shape;52;p4"/>
          <p:cNvSpPr/>
          <p:nvPr/>
        </p:nvSpPr>
        <p:spPr>
          <a:xfrm>
            <a:off x="2478334" y="1481328"/>
            <a:ext cx="6254186" cy="59436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endParaRPr cap="none" dirty="0" sz="1100" i="0" lang="en-US" strike="noStrike" u="none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cap="none" dirty="0" sz="110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PhD candidates (Instructors and Students)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cap="none" dirty="0" sz="110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dirty="0" sz="1100"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 Models Reviewed : disjoint groups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dirty="0" sz="1100" lang="en-US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Comlan</a:t>
            </a:r>
            <a:r>
              <a:rPr dirty="0" sz="1100"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dirty="0" sz="1100" lang="en-US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Allohoumbo</a:t>
            </a:r>
            <a:r>
              <a:rPr dirty="0" sz="1100"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2023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endParaRPr cap="none" dirty="0" sz="11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1" name="Google Shape;53;p4"/>
          <p:cNvSpPr/>
          <p:nvPr/>
        </p:nvSpPr>
        <p:spPr>
          <a:xfrm>
            <a:off x="2371783" y="2217420"/>
            <a:ext cx="6305486" cy="1188720"/>
          </a:xfrm>
          <a:prstGeom prst="rect"/>
          <a:solidFill>
            <a:schemeClr val="bg2">
              <a:lumMod val="75000"/>
            </a:schemeClr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2" name="Google Shape;54;p4"/>
          <p:cNvSpPr/>
          <p:nvPr/>
        </p:nvSpPr>
        <p:spPr>
          <a:xfrm>
            <a:off x="2371783" y="2221992"/>
            <a:ext cx="64008" cy="1188720"/>
          </a:xfrm>
          <a:prstGeom prst="rect"/>
          <a:solidFill>
            <a:srgbClr val="EF4444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3" name="Google Shape;55;p4"/>
          <p:cNvSpPr/>
          <p:nvPr/>
        </p:nvSpPr>
        <p:spPr>
          <a:xfrm>
            <a:off x="2518474" y="2295144"/>
            <a:ext cx="1097280" cy="20116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b="1" cap="none" sz="750" i="0" lang="en-US" strike="noStrike" u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GAP 02</a:t>
            </a:r>
            <a:endParaRPr b="0" cap="none" sz="7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4" name="Google Shape;56;p4"/>
          <p:cNvSpPr/>
          <p:nvPr/>
        </p:nvSpPr>
        <p:spPr>
          <a:xfrm>
            <a:off x="2518474" y="2478024"/>
            <a:ext cx="5074920" cy="25603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cap="none" sz="13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Room Assignment Decoupled</a:t>
            </a:r>
            <a:endParaRPr b="0" cap="none" sz="13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5" name="Google Shape;57;p4"/>
          <p:cNvSpPr/>
          <p:nvPr/>
        </p:nvSpPr>
        <p:spPr>
          <a:xfrm>
            <a:off x="2518474" y="2743200"/>
            <a:ext cx="5074920" cy="59436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cap="none" dirty="0" sz="110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Existing CP benchmarks (Toronto/Carter)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cap="none" dirty="0" sz="110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Room Exclusion by most CP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dirty="0" sz="1100"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Assignment afterward</a:t>
            </a:r>
            <a:endParaRPr b="0" cap="none" dirty="0" sz="11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6" name="Google Shape;58;p4"/>
          <p:cNvSpPr/>
          <p:nvPr/>
        </p:nvSpPr>
        <p:spPr>
          <a:xfrm>
            <a:off x="2381314" y="3502152"/>
            <a:ext cx="6305486" cy="1188720"/>
          </a:xfrm>
          <a:prstGeom prst="rect"/>
          <a:solidFill>
            <a:schemeClr val="bg2">
              <a:lumMod val="75000"/>
            </a:schemeClr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7" name="Google Shape;59;p4"/>
          <p:cNvSpPr/>
          <p:nvPr/>
        </p:nvSpPr>
        <p:spPr>
          <a:xfrm>
            <a:off x="2381314" y="3502152"/>
            <a:ext cx="64008" cy="1188720"/>
          </a:xfrm>
          <a:prstGeom prst="rect"/>
          <a:solidFill>
            <a:srgbClr val="EF4444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8" name="Google Shape;60;p4"/>
          <p:cNvSpPr/>
          <p:nvPr/>
        </p:nvSpPr>
        <p:spPr>
          <a:xfrm>
            <a:off x="2518474" y="3575304"/>
            <a:ext cx="1097280" cy="20116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b="1" cap="none" sz="750" i="0" lang="en-US" strike="noStrike" u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GAP 03</a:t>
            </a:r>
            <a:endParaRPr b="0" cap="none" sz="7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9" name="Google Shape;61;p4"/>
          <p:cNvSpPr/>
          <p:nvPr/>
        </p:nvSpPr>
        <p:spPr>
          <a:xfrm>
            <a:off x="2518474" y="3758184"/>
            <a:ext cx="5074920" cy="25603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cap="none" sz="13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Fairness as an Afterthought</a:t>
            </a:r>
            <a:endParaRPr b="0" cap="none" sz="13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0" name="Google Shape;62;p4"/>
          <p:cNvSpPr/>
          <p:nvPr/>
        </p:nvSpPr>
        <p:spPr>
          <a:xfrm>
            <a:off x="2518474" y="4023360"/>
            <a:ext cx="5074920" cy="59436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endParaRPr dirty="0" sz="1200" lang="en-US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dirty="0" sz="1200"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Invigilators</a:t>
            </a:r>
            <a:endParaRPr dirty="0" sz="1100" lang="en-US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dirty="0" sz="1200"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Unequal w</a:t>
            </a:r>
            <a:r>
              <a:rPr b="0" cap="none" dirty="0" sz="120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orkload balance </a:t>
            </a:r>
            <a:endParaRPr dirty="0" sz="1200" lang="en-US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endParaRPr b="0" cap="none" dirty="0" sz="1200" i="0" lang="en-US" strike="noStrike" u="none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endParaRPr b="0" cap="none" dirty="0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1" name="Google Shape;63;p4"/>
          <p:cNvSpPr/>
          <p:nvPr/>
        </p:nvSpPr>
        <p:spPr>
          <a:xfrm>
            <a:off x="8503920" y="4937760"/>
            <a:ext cx="548640" cy="18288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cap="none" sz="700" i="0" lang="en-US" strike="noStrike" u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cap="none" sz="7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6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HeaderBar"/>
          <p:cNvSpPr/>
          <p:nvPr/>
        </p:nvSpPr>
        <p:spPr>
          <a:xfrm>
            <a:off x="0" y="0"/>
            <a:ext cx="9144000" cy="680400"/>
          </a:xfrm>
          <a:prstGeom prst="rect"/>
          <a:solidFill>
            <a:srgbClr val="0D1B3E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6" name="Title"/>
          <p:cNvSpPr/>
          <p:nvPr/>
        </p:nvSpPr>
        <p:spPr>
          <a:xfrm>
            <a:off x="274320" y="50000"/>
            <a:ext cx="8595360" cy="600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200" i="0" lang="en-US" strike="noStrike" u="none">
                <a:solidFill>
                  <a:srgbClr val="FFFFFF"/>
                </a:solidFill>
                <a:latin typeface="Calibri"/>
              </a:rPr>
              <a:t>OUR CONTRIBUTIONS &amp; MATHEMATICAL FORMULATION</a:t>
            </a:r>
          </a:p>
        </p:txBody>
      </p:sp>
      <p:sp>
        <p:nvSpPr>
          <p:cNvPr id="1048627" name="Divider"/>
          <p:cNvSpPr/>
          <p:nvPr/>
        </p:nvSpPr>
        <p:spPr>
          <a:xfrm>
            <a:off x="4526280" y="730000"/>
            <a:ext cx="18000" cy="4350000"/>
          </a:xfrm>
          <a:prstGeom prst="rect"/>
          <a:solidFill>
            <a:srgbClr val="0A7E8C"/>
          </a:solidFill>
          <a:ln>
            <a:noFill/>
          </a:ln>
        </p:spPr>
        <p:txBody>
          <a:bodyPr>
            <a:noAutofit/>
          </a:bodyPr>
          <a:p/>
        </p:txBody>
      </p:sp>
      <p:sp>
        <p:nvSpPr>
          <p:cNvPr id="1048628" name="LeftHeader"/>
          <p:cNvSpPr/>
          <p:nvPr/>
        </p:nvSpPr>
        <p:spPr>
          <a:xfrm>
            <a:off x="182880" y="730000"/>
            <a:ext cx="4250000" cy="280000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400" i="0" lang="en-US" strike="noStrike" u="none">
                <a:solidFill>
                  <a:srgbClr val="FFFFFF"/>
                </a:solidFill>
                <a:latin typeface="Calibri"/>
              </a:rPr>
              <a:t>THREE NOVEL CONTRIBUTIONS</a:t>
            </a:r>
          </a:p>
        </p:txBody>
      </p:sp>
      <p:sp>
        <p:nvSpPr>
          <p:cNvPr id="1048629" name="C1"/>
          <p:cNvSpPr/>
          <p:nvPr/>
        </p:nvSpPr>
        <p:spPr>
          <a:xfrm>
            <a:off x="182880" y="1060000"/>
            <a:ext cx="4250000" cy="980000"/>
          </a:xfrm>
          <a:prstGeom prst="rect"/>
          <a:solidFill>
            <a:srgbClr val="FFFFFF"/>
          </a:solidFill>
          <a:ln w="18000">
            <a:solidFill>
              <a:srgbClr val="0A7E8C"/>
            </a:solidFill>
          </a:ln>
        </p:spPr>
        <p:txBody>
          <a:bodyPr anchor="t" anchorCtr="0" bIns="91425" lIns="182880" rIns="182880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F4A01C"/>
                </a:solidFill>
                <a:latin typeface="Calibri"/>
              </a:rPr>
              <a:t>① Novel Hard Constraint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950" i="0" lang="en-US" strike="noStrike" u="none">
                <a:solidFill>
                  <a:srgbClr val="0D1B3E"/>
                </a:solidFill>
                <a:latin typeface="Calibri"/>
              </a:rPr>
              <a:t>H4: DUAL ROLE HARD CONSTRAINT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dirty="0" sz="1050" i="0" lang="en-US" strike="noStrike" u="none">
                <a:solidFill>
                  <a:srgbClr val="475569"/>
                </a:solidFill>
                <a:latin typeface="Calibri"/>
              </a:rPr>
              <a:t>Formally encodes PhD candidate conflicts inside CP-SAT. </a:t>
            </a:r>
            <a:endParaRPr dirty="0" sz="1050" lang="en-US">
              <a:solidFill>
                <a:srgbClr val="475569"/>
              </a:solidFill>
              <a:latin typeface="Calibri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dirty="0" sz="1050" i="0" lang="en-US" strike="noStrike" u="none">
                <a:solidFill>
                  <a:srgbClr val="475569"/>
                </a:solidFill>
                <a:latin typeface="Calibri"/>
              </a:rPr>
              <a:t>Real</a:t>
            </a:r>
            <a:r>
              <a:rPr dirty="0" sz="1050" lang="en-US">
                <a:solidFill>
                  <a:srgbClr val="475569"/>
                </a:solidFill>
                <a:latin typeface="Calibri"/>
              </a:rPr>
              <a:t>time conflict detection</a:t>
            </a:r>
            <a:endParaRPr b="0" cap="none" dirty="0" sz="1050" i="0" lang="en-US" strike="noStrike" u="none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048630" name="C2"/>
          <p:cNvSpPr/>
          <p:nvPr/>
        </p:nvSpPr>
        <p:spPr>
          <a:xfrm>
            <a:off x="182880" y="2080000"/>
            <a:ext cx="4250000" cy="980000"/>
          </a:xfrm>
          <a:prstGeom prst="rect"/>
          <a:solidFill>
            <a:srgbClr val="FFFFFF"/>
          </a:solidFill>
          <a:ln w="18000">
            <a:solidFill>
              <a:srgbClr val="0A7E8C"/>
            </a:solidFill>
          </a:ln>
        </p:spPr>
        <p:txBody>
          <a:bodyPr anchor="t" anchorCtr="0" bIns="91425" lIns="182880" rIns="182880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F4A01C"/>
                </a:solidFill>
                <a:latin typeface="Calibri"/>
              </a:rPr>
              <a:t>② Novel CP Architecture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950" i="0" lang="en-US" strike="noStrike" u="none">
                <a:solidFill>
                  <a:srgbClr val="0D1B3E"/>
                </a:solidFill>
                <a:latin typeface="Calibri"/>
              </a:rPr>
              <a:t>INTEGRATE MULTI-ROOM BOOLEAN MATRIX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sz="1050" lang="en-US">
                <a:solidFill>
                  <a:srgbClr val="475569"/>
                </a:solidFill>
                <a:latin typeface="Calibri"/>
              </a:rPr>
              <a:t>One exam = multiple rooms 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b="0" cap="none" dirty="0" sz="1050" i="0" lang="en-US" strike="noStrike" u="none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048631" name="C3"/>
          <p:cNvSpPr/>
          <p:nvPr/>
        </p:nvSpPr>
        <p:spPr>
          <a:xfrm>
            <a:off x="182880" y="3100000"/>
            <a:ext cx="4250000" cy="980000"/>
          </a:xfrm>
          <a:prstGeom prst="rect"/>
          <a:solidFill>
            <a:srgbClr val="FFFFFF"/>
          </a:solidFill>
          <a:ln w="18000">
            <a:solidFill>
              <a:srgbClr val="0A7E8C"/>
            </a:solidFill>
          </a:ln>
        </p:spPr>
        <p:txBody>
          <a:bodyPr anchor="t" anchorCtr="0" bIns="91425" lIns="182880" rIns="182880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F4A01C"/>
                </a:solidFill>
                <a:latin typeface="Calibri"/>
              </a:rPr>
              <a:t>③ Novel Objective Function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950" i="0" lang="en-US" strike="noStrike" u="none">
                <a:solidFill>
                  <a:srgbClr val="0D1B3E"/>
                </a:solidFill>
                <a:latin typeface="Calibri"/>
              </a:rPr>
              <a:t>MIN-MAX FAIRNESS OBJECTIVE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dirty="0" sz="1050" i="0" lang="en-US" strike="noStrike" u="none">
                <a:solidFill>
                  <a:srgbClr val="475569"/>
                </a:solidFill>
                <a:latin typeface="Calibri"/>
              </a:rPr>
              <a:t>S2 = max(load) - min(load). Native CP-SAT encoding via </a:t>
            </a:r>
            <a:r>
              <a:rPr b="0" cap="none" dirty="0" sz="1050" i="0" lang="en-US" err="1" strike="noStrike" u="none">
                <a:solidFill>
                  <a:srgbClr val="475569"/>
                </a:solidFill>
                <a:latin typeface="Calibri"/>
              </a:rPr>
              <a:t>add_max_equality</a:t>
            </a:r>
            <a:r>
              <a:rPr b="0" cap="none" dirty="0" sz="1050" i="0" lang="en-US" strike="noStrike" u="none">
                <a:solidFill>
                  <a:srgbClr val="475569"/>
                </a:solidFill>
                <a:latin typeface="Calibri"/>
              </a:rPr>
              <a:t> — exact optimality guaranteed.</a:t>
            </a:r>
          </a:p>
        </p:txBody>
      </p:sp>
      <p:sp>
        <p:nvSpPr>
          <p:cNvPr id="1048632" name="RightHeader"/>
          <p:cNvSpPr/>
          <p:nvPr/>
        </p:nvSpPr>
        <p:spPr>
          <a:xfrm>
            <a:off x="4617720" y="730000"/>
            <a:ext cx="4343880" cy="280000"/>
          </a:xfrm>
          <a:prstGeom prst="rect"/>
          <a:solidFill>
            <a:srgbClr val="0D1B3E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400" i="0" lang="en-US" strike="noStrike" u="none">
                <a:solidFill>
                  <a:srgbClr val="FFFFFF"/>
                </a:solidFill>
                <a:latin typeface="Calibri"/>
              </a:rPr>
              <a:t>MATHEMATICAL FORMULATION</a:t>
            </a:r>
          </a:p>
        </p:txBody>
      </p:sp>
      <p:sp>
        <p:nvSpPr>
          <p:cNvPr id="1048633" name="DecVars"/>
          <p:cNvSpPr/>
          <p:nvPr/>
        </p:nvSpPr>
        <p:spPr>
          <a:xfrm>
            <a:off x="4617720" y="1060000"/>
            <a:ext cx="4343880" cy="730000"/>
          </a:xfrm>
          <a:prstGeom prst="rect"/>
          <a:solidFill>
            <a:srgbClr val="FFFFFF"/>
          </a:solidFill>
          <a:ln w="18000">
            <a:solidFill>
              <a:srgbClr val="0D1B3E"/>
            </a:solidFill>
          </a:ln>
        </p:spPr>
        <p:txBody>
          <a:bodyPr anchor="t" anchorCtr="0" bIns="91425" lIns="182880" rIns="182880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0A7E8C"/>
                </a:solidFill>
                <a:latin typeface="Calibri"/>
              </a:rPr>
              <a:t>DECISION VARIABLES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0D1B3E"/>
                </a:solidFill>
                <a:latin typeface="Calibri"/>
              </a:rPr>
              <a:t>Xe</a:t>
            </a:r>
            <a:r>
              <a:rPr b="0" cap="none" dirty="0" sz="1000" i="0" lang="en-US" strike="noStrike" u="none">
                <a:solidFill>
                  <a:srgbClr val="475569"/>
                </a:solidFill>
                <a:latin typeface="Calibri"/>
              </a:rPr>
              <a:t>  Timeslot assignment per exam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0D1B3E"/>
                </a:solidFill>
                <a:latin typeface="Calibri"/>
              </a:rPr>
              <a:t>Yer</a:t>
            </a:r>
            <a:r>
              <a:rPr b="0" cap="none" dirty="0" sz="1000" i="0" lang="en-US" strike="noStrike" u="none">
                <a:solidFill>
                  <a:srgbClr val="475569"/>
                </a:solidFill>
                <a:latin typeface="Calibri"/>
              </a:rPr>
              <a:t>  Multi-room Boolean matrix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0D1B3E"/>
                </a:solidFill>
                <a:latin typeface="Calibri"/>
              </a:rPr>
              <a:t>Zei</a:t>
            </a:r>
            <a:r>
              <a:rPr b="0" cap="none" dirty="0" sz="1000" i="0" lang="en-US" strike="noStrike" u="none">
                <a:solidFill>
                  <a:srgbClr val="475569"/>
                </a:solidFill>
                <a:latin typeface="Calibri"/>
              </a:rPr>
              <a:t>  Invigilator assignment</a:t>
            </a:r>
          </a:p>
        </p:txBody>
      </p:sp>
      <p:sp>
        <p:nvSpPr>
          <p:cNvPr id="1048634" name="HardConstraints"/>
          <p:cNvSpPr/>
          <p:nvPr/>
        </p:nvSpPr>
        <p:spPr>
          <a:xfrm>
            <a:off x="4617720" y="1840000"/>
            <a:ext cx="4343880" cy="1170000"/>
          </a:xfrm>
          <a:prstGeom prst="rect"/>
          <a:solidFill>
            <a:srgbClr val="FFFFFF"/>
          </a:solidFill>
          <a:ln w="18000">
            <a:solidFill>
              <a:srgbClr val="0D1B3E"/>
            </a:solidFill>
          </a:ln>
        </p:spPr>
        <p:txBody>
          <a:bodyPr anchor="t" anchorCtr="0" bIns="91425" lIns="182880" rIns="182880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0A7E8C"/>
                </a:solidFill>
                <a:latin typeface="Calibri"/>
              </a:rPr>
              <a:t>HARD CONSTRAINTS (H1-H6)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0D1B3E"/>
                </a:solidFill>
                <a:latin typeface="Calibri"/>
              </a:rPr>
              <a:t>H1</a:t>
            </a:r>
            <a:r>
              <a:rPr b="0" cap="none" dirty="0" sz="1000" i="0" lang="en-US" strike="noStrike" u="none">
                <a:solidFill>
                  <a:srgbClr val="475569"/>
                </a:solidFill>
                <a:latin typeface="Calibri"/>
              </a:rPr>
              <a:t>  No Student Time Conflict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0D1B3E"/>
                </a:solidFill>
                <a:latin typeface="Calibri"/>
              </a:rPr>
              <a:t>H2</a:t>
            </a:r>
            <a:r>
              <a:rPr b="0" cap="none" dirty="0" sz="1000" i="0" lang="en-US" strike="noStrike" u="none">
                <a:solidFill>
                  <a:srgbClr val="475569"/>
                </a:solidFill>
                <a:latin typeface="Calibri"/>
              </a:rPr>
              <a:t>  Room Capacity &amp; Online Routing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0D1B3E"/>
                </a:solidFill>
                <a:latin typeface="Calibri"/>
              </a:rPr>
              <a:t>H3</a:t>
            </a:r>
            <a:r>
              <a:rPr b="0" cap="none" dirty="0" sz="1000" i="0" lang="en-US" strike="noStrike" u="none">
                <a:solidFill>
                  <a:srgbClr val="475569"/>
                </a:solidFill>
                <a:latin typeface="Calibri"/>
              </a:rPr>
              <a:t>  No Room Clash (reified Boolean)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EF4444"/>
                </a:solidFill>
                <a:latin typeface="Calibri"/>
              </a:rPr>
              <a:t>H4</a:t>
            </a:r>
            <a:r>
              <a:rPr b="0" cap="none" dirty="0" sz="1000" i="0" lang="en-US" strike="noStrike" u="none">
                <a:solidFill>
                  <a:srgbClr val="475569"/>
                </a:solidFill>
                <a:latin typeface="Calibri"/>
              </a:rPr>
              <a:t>  Dual-Role Instructor Conflict </a:t>
            </a:r>
            <a:r>
              <a:rPr b="1" cap="none" dirty="0" sz="1000" i="0" lang="en-US" strike="noStrike" u="none">
                <a:solidFill>
                  <a:srgbClr val="EF4444"/>
                </a:solidFill>
                <a:latin typeface="Calibri"/>
              </a:rPr>
              <a:t>← NOVEL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0D1B3E"/>
                </a:solidFill>
                <a:latin typeface="Calibri"/>
              </a:rPr>
              <a:t>H5</a:t>
            </a:r>
            <a:r>
              <a:rPr b="0" cap="none" dirty="0" sz="1000" i="0" lang="en-US" strike="noStrike" u="none">
                <a:solidFill>
                  <a:srgbClr val="475569"/>
                </a:solidFill>
                <a:latin typeface="Calibri"/>
              </a:rPr>
              <a:t>  No Double Invigilation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0D1B3E"/>
                </a:solidFill>
                <a:latin typeface="Calibri"/>
              </a:rPr>
              <a:t>H6</a:t>
            </a:r>
            <a:r>
              <a:rPr b="0" cap="none" dirty="0" sz="1000" i="0" lang="en-US" strike="noStrike" u="none">
                <a:solidFill>
                  <a:srgbClr val="475569"/>
                </a:solidFill>
                <a:latin typeface="Calibri"/>
              </a:rPr>
              <a:t>  Minimum Invigilator Count</a:t>
            </a:r>
          </a:p>
        </p:txBody>
      </p:sp>
      <p:sp>
        <p:nvSpPr>
          <p:cNvPr id="1048635" name="Objective"/>
          <p:cNvSpPr/>
          <p:nvPr/>
        </p:nvSpPr>
        <p:spPr>
          <a:xfrm>
            <a:off x="4617720" y="3010000"/>
            <a:ext cx="4343880" cy="1060000"/>
          </a:xfrm>
          <a:prstGeom prst="rect"/>
          <a:solidFill>
            <a:srgbClr val="0D1B3E"/>
          </a:solidFill>
          <a:ln>
            <a:noFill/>
          </a:ln>
        </p:spPr>
        <p:txBody>
          <a:bodyPr anchor="t" anchorCtr="0" bIns="91425" lIns="182880" rIns="182880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000" i="0" lang="en-US" strike="noStrike" u="none">
                <a:solidFill>
                  <a:srgbClr val="F4A01C"/>
                </a:solidFill>
                <a:latin typeface="Calibri"/>
              </a:rPr>
              <a:t>OBJECTIVE FUNCTION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dirty="0" sz="850" i="0" lang="en-US" strike="noStrike" u="none">
                <a:solidFill>
                  <a:srgbClr val="C7ECF1"/>
                </a:solidFill>
                <a:latin typeface="Calibri"/>
              </a:rPr>
              <a:t>min F = w1S1 + w2S2 + w3S3 + w4S4 + S5 + 5000·|overflow|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dirty="0" sz="800" i="0" lang="en-US" strike="noStrike" u="none">
                <a:solidFill>
                  <a:srgbClr val="94A3B8"/>
                </a:solidFill>
                <a:latin typeface="Calibri"/>
              </a:rPr>
              <a:t>weights: w1=1 (preference)  w2=5 (fairness)  w3=2 (</a:t>
            </a:r>
            <a:r>
              <a:rPr b="0" cap="none" dirty="0" sz="800" i="0" lang="en-US" err="1" strike="noStrike" u="none">
                <a:solidFill>
                  <a:srgbClr val="94A3B8"/>
                </a:solidFill>
                <a:latin typeface="Calibri"/>
              </a:rPr>
              <a:t>consec</a:t>
            </a:r>
            <a:r>
              <a:rPr b="0" cap="none" dirty="0" sz="800" i="0" lang="en-US" strike="noStrike" u="none">
                <a:solidFill>
                  <a:srgbClr val="94A3B8"/>
                </a:solidFill>
                <a:latin typeface="Calibri"/>
              </a:rPr>
              <a:t>.)  w4=3 (day-gap)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800" i="0" lang="en-US" strike="noStrike" u="none">
                <a:solidFill>
                  <a:srgbClr val="F4A01C"/>
                </a:solidFill>
                <a:latin typeface="Calibri"/>
              </a:rPr>
              <a:t>S2 = max(load) - min(load)</a:t>
            </a:r>
            <a:r>
              <a:rPr b="0" cap="none" dirty="0" sz="800" i="0" lang="en-US" strike="noStrike" u="none">
                <a:solidFill>
                  <a:srgbClr val="94A3B8"/>
                </a:solidFill>
                <a:latin typeface="Calibri"/>
              </a:rPr>
              <a:t>  min-max proxy, natively </a:t>
            </a:r>
            <a:r>
              <a:rPr b="0" cap="none" dirty="0" sz="800" i="0" lang="en-US" err="1" strike="noStrike" u="none">
                <a:solidFill>
                  <a:srgbClr val="94A3B8"/>
                </a:solidFill>
                <a:latin typeface="Calibri"/>
              </a:rPr>
              <a:t>linearised</a:t>
            </a:r>
            <a:r>
              <a:rPr b="0" cap="none" dirty="0" sz="800" i="0" lang="en-US" strike="noStrike" u="none">
                <a:solidFill>
                  <a:srgbClr val="94A3B8"/>
                </a:solidFill>
                <a:latin typeface="Calibri"/>
              </a:rPr>
              <a:t> in CP-SAT</a:t>
            </a:r>
          </a:p>
        </p:txBody>
      </p:sp>
      <p:sp>
        <p:nvSpPr>
          <p:cNvPr id="1048636" name="PageNum"/>
          <p:cNvSpPr/>
          <p:nvPr/>
        </p:nvSpPr>
        <p:spPr>
          <a:xfrm>
            <a:off x="8503920" y="4937760"/>
            <a:ext cx="548640" cy="18288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700" i="0" lang="en-US" strike="noStrike" u="none">
                <a:solidFill>
                  <a:srgbClr val="475569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9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249;p9"/>
          <p:cNvSpPr/>
          <p:nvPr/>
        </p:nvSpPr>
        <p:spPr>
          <a:xfrm>
            <a:off x="0" y="0"/>
            <a:ext cx="9144000" cy="777240"/>
          </a:xfrm>
          <a:prstGeom prst="rect"/>
          <a:solidFill>
            <a:srgbClr val="0D1B3E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1" name="Google Shape;250;p9"/>
          <p:cNvSpPr/>
          <p:nvPr/>
        </p:nvSpPr>
        <p:spPr>
          <a:xfrm>
            <a:off x="457200" y="0"/>
            <a:ext cx="8229600" cy="7772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cap="none" sz="26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AT A GLANCE</a:t>
            </a:r>
            <a:endParaRPr b="0" cap="none" sz="26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52" name="Google Shape;251;p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365760" y="914400"/>
            <a:ext cx="5029200" cy="3291840"/>
          </a:xfrm>
          <a:prstGeom prst="rect"/>
          <a:noFill/>
          <a:ln>
            <a:noFill/>
          </a:ln>
        </p:spPr>
      </p:pic>
      <p:sp>
        <p:nvSpPr>
          <p:cNvPr id="1048642" name="Google Shape;252;p9"/>
          <p:cNvSpPr/>
          <p:nvPr/>
        </p:nvSpPr>
        <p:spPr>
          <a:xfrm>
            <a:off x="5577840" y="914400"/>
            <a:ext cx="3246120" cy="731520"/>
          </a:xfrm>
          <a:prstGeom prst="rect"/>
          <a:solidFill>
            <a:srgbClr val="FFFFFF"/>
          </a:solidFill>
          <a:ln>
            <a:noFill/>
          </a:ln>
          <a:effectLst>
            <a:outerShdw algn="bl" blurRad="101600" dir="8100000" dist="38100" rotWithShape="0">
              <a:srgbClr val="000000">
                <a:alpha val="18039"/>
              </a:srgbClr>
            </a:outerShdw>
          </a:effectLst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3" name="Google Shape;253;p9"/>
          <p:cNvSpPr/>
          <p:nvPr/>
        </p:nvSpPr>
        <p:spPr>
          <a:xfrm>
            <a:off x="5577840" y="914400"/>
            <a:ext cx="73152" cy="731520"/>
          </a:xfrm>
          <a:prstGeom prst="rect"/>
          <a:solidFill>
            <a:srgbClr val="10B98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4" name="Google Shape;254;p9"/>
          <p:cNvSpPr/>
          <p:nvPr/>
        </p:nvSpPr>
        <p:spPr>
          <a:xfrm>
            <a:off x="5715000" y="960120"/>
            <a:ext cx="1097280" cy="219456"/>
          </a:xfrm>
          <a:prstGeom prst="rect"/>
          <a:solidFill>
            <a:srgbClr val="10B98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5" name="Google Shape;255;p9"/>
          <p:cNvSpPr/>
          <p:nvPr/>
        </p:nvSpPr>
        <p:spPr>
          <a:xfrm>
            <a:off x="5715000" y="960120"/>
            <a:ext cx="1097280" cy="219456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cap="none" sz="75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OPTIMAL</a:t>
            </a:r>
            <a:endParaRPr b="0" cap="none" sz="7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6" name="Google Shape;256;p9"/>
          <p:cNvSpPr/>
          <p:nvPr/>
        </p:nvSpPr>
        <p:spPr>
          <a:xfrm>
            <a:off x="5715000" y="1188720"/>
            <a:ext cx="3017520" cy="38404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cap="none" sz="850" i="0" lang="en-US" strike="noStrike" u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hec-s-92 solved to proven optimality in 14.3s (gap = 0)</a:t>
            </a:r>
            <a:endParaRPr b="0" cap="none" sz="8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7" name="Google Shape;257;p9"/>
          <p:cNvSpPr/>
          <p:nvPr/>
        </p:nvSpPr>
        <p:spPr>
          <a:xfrm>
            <a:off x="5577840" y="1737360"/>
            <a:ext cx="3246120" cy="731520"/>
          </a:xfrm>
          <a:prstGeom prst="rect"/>
          <a:solidFill>
            <a:srgbClr val="FFFFFF"/>
          </a:solidFill>
          <a:ln>
            <a:noFill/>
          </a:ln>
          <a:effectLst>
            <a:outerShdw algn="bl" blurRad="101600" dir="8100000" dist="38100" rotWithShape="0">
              <a:srgbClr val="000000">
                <a:alpha val="18039"/>
              </a:srgbClr>
            </a:outerShdw>
          </a:effectLst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8" name="Google Shape;258;p9"/>
          <p:cNvSpPr/>
          <p:nvPr/>
        </p:nvSpPr>
        <p:spPr>
          <a:xfrm>
            <a:off x="5577840" y="1737360"/>
            <a:ext cx="73152" cy="731520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9" name="Google Shape;259;p9"/>
          <p:cNvSpPr/>
          <p:nvPr/>
        </p:nvSpPr>
        <p:spPr>
          <a:xfrm>
            <a:off x="5715000" y="1783080"/>
            <a:ext cx="1097280" cy="219456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0" name="Google Shape;260;p9"/>
          <p:cNvSpPr/>
          <p:nvPr/>
        </p:nvSpPr>
        <p:spPr>
          <a:xfrm>
            <a:off x="5715000" y="1783080"/>
            <a:ext cx="1097280" cy="219456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cap="none" sz="75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NEAR-OPT</a:t>
            </a:r>
            <a:endParaRPr b="0" cap="none" sz="7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1" name="Google Shape;261;p9"/>
          <p:cNvSpPr/>
          <p:nvPr/>
        </p:nvSpPr>
        <p:spPr>
          <a:xfrm>
            <a:off x="5715000" y="2011680"/>
            <a:ext cx="3017520" cy="38404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cap="none" sz="850" i="0" lang="en-US" strike="noStrike" u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sta-f-83, yor-f-83, Univ. X all achieve gap ≤ 3</a:t>
            </a:r>
            <a:endParaRPr b="0" cap="none" sz="8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2" name="Google Shape;262;p9"/>
          <p:cNvSpPr/>
          <p:nvPr/>
        </p:nvSpPr>
        <p:spPr>
          <a:xfrm>
            <a:off x="5577840" y="2560320"/>
            <a:ext cx="3246120" cy="731520"/>
          </a:xfrm>
          <a:prstGeom prst="rect"/>
          <a:solidFill>
            <a:srgbClr val="FFFFFF"/>
          </a:solidFill>
          <a:ln>
            <a:noFill/>
          </a:ln>
          <a:effectLst>
            <a:outerShdw algn="bl" blurRad="101600" dir="8100000" dist="38100" rotWithShape="0">
              <a:srgbClr val="000000">
                <a:alpha val="18039"/>
              </a:srgbClr>
            </a:outerShdw>
          </a:effectLst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3" name="Google Shape;263;p9"/>
          <p:cNvSpPr/>
          <p:nvPr/>
        </p:nvSpPr>
        <p:spPr>
          <a:xfrm>
            <a:off x="5577840" y="2560320"/>
            <a:ext cx="73152" cy="731520"/>
          </a:xfrm>
          <a:prstGeom prst="rect"/>
          <a:solidFill>
            <a:srgbClr val="EF4444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4" name="Google Shape;264;p9"/>
          <p:cNvSpPr/>
          <p:nvPr/>
        </p:nvSpPr>
        <p:spPr>
          <a:xfrm>
            <a:off x="5715000" y="2606040"/>
            <a:ext cx="1097280" cy="219456"/>
          </a:xfrm>
          <a:prstGeom prst="rect"/>
          <a:solidFill>
            <a:srgbClr val="EF4444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5" name="Google Shape;265;p9"/>
          <p:cNvSpPr/>
          <p:nvPr/>
        </p:nvSpPr>
        <p:spPr>
          <a:xfrm>
            <a:off x="5715000" y="2606040"/>
            <a:ext cx="1097280" cy="219456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cap="none" sz="75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cap="none" sz="7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6" name="Google Shape;266;p9"/>
          <p:cNvSpPr/>
          <p:nvPr/>
        </p:nvSpPr>
        <p:spPr>
          <a:xfrm>
            <a:off x="5715000" y="2834640"/>
            <a:ext cx="3017520" cy="38404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cap="none" sz="850" i="0" lang="en-US" strike="noStrike" u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ear-f-83 gap = 21 under simultaneous slot+room saturation (structural, not solver failure)</a:t>
            </a:r>
            <a:endParaRPr b="0" cap="none" sz="8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7" name="Google Shape;267;p9"/>
          <p:cNvSpPr/>
          <p:nvPr/>
        </p:nvSpPr>
        <p:spPr>
          <a:xfrm>
            <a:off x="5577840" y="3383280"/>
            <a:ext cx="3246120" cy="731520"/>
          </a:xfrm>
          <a:prstGeom prst="rect"/>
          <a:solidFill>
            <a:srgbClr val="FFFFFF"/>
          </a:solidFill>
          <a:ln>
            <a:noFill/>
          </a:ln>
          <a:effectLst>
            <a:outerShdw algn="bl" blurRad="101600" dir="8100000" dist="38100" rotWithShape="0">
              <a:srgbClr val="000000">
                <a:alpha val="18039"/>
              </a:srgbClr>
            </a:outerShdw>
          </a:effectLst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8" name="Google Shape;268;p9"/>
          <p:cNvSpPr/>
          <p:nvPr/>
        </p:nvSpPr>
        <p:spPr>
          <a:xfrm>
            <a:off x="5577840" y="3383280"/>
            <a:ext cx="73152" cy="731520"/>
          </a:xfrm>
          <a:prstGeom prst="rect"/>
          <a:solidFill>
            <a:srgbClr val="F4A01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9" name="Google Shape;269;p9"/>
          <p:cNvSpPr/>
          <p:nvPr/>
        </p:nvSpPr>
        <p:spPr>
          <a:xfrm>
            <a:off x="5715000" y="3429000"/>
            <a:ext cx="1097280" cy="219456"/>
          </a:xfrm>
          <a:prstGeom prst="rect"/>
          <a:solidFill>
            <a:srgbClr val="F4A01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0" name="Google Shape;270;p9"/>
          <p:cNvSpPr/>
          <p:nvPr/>
        </p:nvSpPr>
        <p:spPr>
          <a:xfrm>
            <a:off x="5715000" y="3429000"/>
            <a:ext cx="1097280" cy="219456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cap="none" sz="75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H4</a:t>
            </a:r>
            <a:endParaRPr b="0" cap="none" sz="7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1" name="Google Shape;271;p9"/>
          <p:cNvSpPr/>
          <p:nvPr/>
        </p:nvSpPr>
        <p:spPr>
          <a:xfrm>
            <a:off x="5715000" y="3657600"/>
            <a:ext cx="3017520" cy="38404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cap="none" sz="850" i="0" lang="en-US" strike="noStrike" u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 25 PhD dual-role violations prevented across every test instance</a:t>
            </a:r>
            <a:endParaRPr b="0" cap="none" sz="8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2" name="Google Shape;275;p9"/>
          <p:cNvSpPr/>
          <p:nvPr/>
        </p:nvSpPr>
        <p:spPr>
          <a:xfrm>
            <a:off x="5715000" y="4251960"/>
            <a:ext cx="1097280" cy="219456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cap="none" sz="75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cap="none" sz="7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3" name="Google Shape;277;p9"/>
          <p:cNvSpPr/>
          <p:nvPr/>
        </p:nvSpPr>
        <p:spPr>
          <a:xfrm>
            <a:off x="8503920" y="4937760"/>
            <a:ext cx="548640" cy="18288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cap="none" sz="700" i="0" lang="en-US" strike="noStrike" u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cap="none" sz="7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22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384;p12"/>
          <p:cNvSpPr/>
          <p:nvPr/>
        </p:nvSpPr>
        <p:spPr>
          <a:xfrm>
            <a:off x="0" y="0"/>
            <a:ext cx="4572000" cy="5143500"/>
          </a:xfrm>
          <a:prstGeom prst="rect"/>
          <a:solidFill>
            <a:schemeClr val="bg2">
              <a:lumMod val="50000"/>
            </a:schemeClr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8" name="Google Shape;385;p12"/>
          <p:cNvSpPr/>
          <p:nvPr/>
        </p:nvSpPr>
        <p:spPr>
          <a:xfrm>
            <a:off x="0" y="0"/>
            <a:ext cx="411480" cy="5143500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9" name="Google Shape;386;p12"/>
          <p:cNvSpPr/>
          <p:nvPr/>
        </p:nvSpPr>
        <p:spPr>
          <a:xfrm>
            <a:off x="594360" y="274320"/>
            <a:ext cx="3749040" cy="41148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cap="none" sz="28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cap="none" sz="2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0" name="Google Shape;387;p12"/>
          <p:cNvSpPr/>
          <p:nvPr/>
        </p:nvSpPr>
        <p:spPr>
          <a:xfrm>
            <a:off x="594360" y="731520"/>
            <a:ext cx="3200400" cy="36576"/>
          </a:xfrm>
          <a:prstGeom prst="rect"/>
          <a:solidFill>
            <a:srgbClr val="F4A01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1" name="Google Shape;388;p12"/>
          <p:cNvSpPr/>
          <p:nvPr/>
        </p:nvSpPr>
        <p:spPr>
          <a:xfrm>
            <a:off x="594360" y="914400"/>
            <a:ext cx="320040" cy="320040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2" name="Google Shape;389;p12"/>
          <p:cNvSpPr/>
          <p:nvPr/>
        </p:nvSpPr>
        <p:spPr>
          <a:xfrm>
            <a:off x="594360" y="914400"/>
            <a:ext cx="320040" cy="320040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cap="none" sz="1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3" name="Google Shape;390;p12"/>
          <p:cNvSpPr/>
          <p:nvPr/>
        </p:nvSpPr>
        <p:spPr>
          <a:xfrm>
            <a:off x="1005840" y="914400"/>
            <a:ext cx="3337560" cy="5486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cap="none" sz="9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hard constraints satisfied across every tested instance</a:t>
            </a:r>
            <a:endParaRPr b="0" cap="none" sz="9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4" name="Google Shape;391;p12"/>
          <p:cNvSpPr/>
          <p:nvPr/>
        </p:nvSpPr>
        <p:spPr>
          <a:xfrm>
            <a:off x="594360" y="1554480"/>
            <a:ext cx="320040" cy="320040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5" name="Google Shape;392;p12"/>
          <p:cNvSpPr/>
          <p:nvPr/>
        </p:nvSpPr>
        <p:spPr>
          <a:xfrm>
            <a:off x="594360" y="1554480"/>
            <a:ext cx="320040" cy="320040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cap="none" sz="1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6" name="Google Shape;393;p12"/>
          <p:cNvSpPr/>
          <p:nvPr/>
        </p:nvSpPr>
        <p:spPr>
          <a:xfrm>
            <a:off x="1005840" y="1554480"/>
            <a:ext cx="3337560" cy="5486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cap="none" sz="9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Optimal fairness on hec-s-92 (gap = 0) in 14.3 s — provably</a:t>
            </a:r>
            <a:endParaRPr b="0" cap="none" sz="9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7" name="Google Shape;394;p12"/>
          <p:cNvSpPr/>
          <p:nvPr/>
        </p:nvSpPr>
        <p:spPr>
          <a:xfrm>
            <a:off x="594360" y="2194560"/>
            <a:ext cx="320040" cy="320040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8" name="Google Shape;395;p12"/>
          <p:cNvSpPr/>
          <p:nvPr/>
        </p:nvSpPr>
        <p:spPr>
          <a:xfrm>
            <a:off x="594360" y="2194560"/>
            <a:ext cx="320040" cy="320040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cap="none" sz="1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9" name="Google Shape;396;p12"/>
          <p:cNvSpPr/>
          <p:nvPr/>
        </p:nvSpPr>
        <p:spPr>
          <a:xfrm>
            <a:off x="1005840" y="2194560"/>
            <a:ext cx="3337560" cy="5486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cap="none" sz="9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Near-optimal fairness (gap 2–3) on sta-f-83, yor-f-83 &amp; Univ. X</a:t>
            </a:r>
            <a:endParaRPr b="0" cap="none" sz="9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0" name="Google Shape;397;p12"/>
          <p:cNvSpPr/>
          <p:nvPr/>
        </p:nvSpPr>
        <p:spPr>
          <a:xfrm>
            <a:off x="594360" y="2834640"/>
            <a:ext cx="320040" cy="320040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1" name="Google Shape;398;p12"/>
          <p:cNvSpPr/>
          <p:nvPr/>
        </p:nvSpPr>
        <p:spPr>
          <a:xfrm>
            <a:off x="594360" y="2834640"/>
            <a:ext cx="320040" cy="320040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cap="none" sz="1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2" name="Google Shape;399;p12"/>
          <p:cNvSpPr/>
          <p:nvPr/>
        </p:nvSpPr>
        <p:spPr>
          <a:xfrm>
            <a:off x="1005840" y="2834640"/>
            <a:ext cx="3337560" cy="5486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cap="none" sz="9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Zero H4 violations: all 25 dual-role PhD candidates protected</a:t>
            </a:r>
            <a:endParaRPr b="0" cap="none" sz="9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3" name="Google Shape;401;p12"/>
          <p:cNvSpPr/>
          <p:nvPr/>
        </p:nvSpPr>
        <p:spPr>
          <a:xfrm>
            <a:off x="594360" y="3474720"/>
            <a:ext cx="320040" cy="320040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endParaRPr b="0" cap="none" dirty="0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4" name="Google Shape;403;p12"/>
          <p:cNvSpPr/>
          <p:nvPr/>
        </p:nvSpPr>
        <p:spPr>
          <a:xfrm>
            <a:off x="594360" y="4114800"/>
            <a:ext cx="320040" cy="320040"/>
          </a:xfrm>
          <a:prstGeom prst="rect"/>
          <a:solidFill>
            <a:srgbClr val="F4A01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5" name="Google Shape;404;p12"/>
          <p:cNvSpPr/>
          <p:nvPr/>
        </p:nvSpPr>
        <p:spPr>
          <a:xfrm>
            <a:off x="594360" y="4114800"/>
            <a:ext cx="320040" cy="320040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cap="none" sz="1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6" name="Google Shape;405;p12"/>
          <p:cNvSpPr/>
          <p:nvPr/>
        </p:nvSpPr>
        <p:spPr>
          <a:xfrm>
            <a:off x="1005840" y="4114800"/>
            <a:ext cx="3337560" cy="5486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F4A01C"/>
              </a:buClr>
              <a:buSzPts val="950"/>
              <a:buFont typeface="Calibri"/>
              <a:buNone/>
            </a:pPr>
            <a:r>
              <a:rPr b="1" cap="none" dirty="0" sz="950" i="0" lang="en-US" strike="noStrike" u="none">
                <a:solidFill>
                  <a:srgbClr val="F4A01C"/>
                </a:solidFill>
                <a:latin typeface="Calibri"/>
                <a:ea typeface="Calibri"/>
                <a:cs typeface="Calibri"/>
                <a:sym typeface="Calibri"/>
              </a:rPr>
              <a:t>First CP hard constraint encoding dual-role conflicts in an exact solver</a:t>
            </a:r>
            <a:endParaRPr b="0" cap="none" dirty="0" sz="9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7" name="Google Shape;406;p12"/>
          <p:cNvSpPr/>
          <p:nvPr/>
        </p:nvSpPr>
        <p:spPr>
          <a:xfrm>
            <a:off x="4754880" y="274320"/>
            <a:ext cx="4114800" cy="384048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12A8BA"/>
              </a:buClr>
              <a:buSzPts val="1800"/>
              <a:buFont typeface="Calibri"/>
              <a:buNone/>
            </a:pPr>
            <a:r>
              <a:rPr b="1" cap="none" sz="1800" i="0" lang="en-US" strike="noStrike" u="none">
                <a:solidFill>
                  <a:srgbClr val="12A8BA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8" name="Google Shape;407;p12"/>
          <p:cNvSpPr/>
          <p:nvPr/>
        </p:nvSpPr>
        <p:spPr>
          <a:xfrm>
            <a:off x="4754880" y="676656"/>
            <a:ext cx="3200400" cy="36576"/>
          </a:xfrm>
          <a:prstGeom prst="rect"/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9" name="Google Shape;408;p12"/>
          <p:cNvSpPr/>
          <p:nvPr/>
        </p:nvSpPr>
        <p:spPr>
          <a:xfrm>
            <a:off x="4754880" y="868680"/>
            <a:ext cx="4069080" cy="914400"/>
          </a:xfrm>
          <a:prstGeom prst="rect"/>
          <a:solidFill>
            <a:srgbClr val="162447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90" name="Google Shape;409;p12"/>
          <p:cNvSpPr/>
          <p:nvPr/>
        </p:nvSpPr>
        <p:spPr>
          <a:xfrm>
            <a:off x="4828032" y="914400"/>
            <a:ext cx="347472" cy="347472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91" name="Google Shape;410;p12"/>
          <p:cNvSpPr/>
          <p:nvPr/>
        </p:nvSpPr>
        <p:spPr>
          <a:xfrm>
            <a:off x="4828032" y="914400"/>
            <a:ext cx="347472" cy="347472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cap="none" sz="11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cap="none" sz="11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92" name="Google Shape;411;p12"/>
          <p:cNvSpPr/>
          <p:nvPr/>
        </p:nvSpPr>
        <p:spPr>
          <a:xfrm>
            <a:off x="5257800" y="896112"/>
            <a:ext cx="3474720" cy="25603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cap="none" dirty="0" sz="11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&amp; ML Integration</a:t>
            </a:r>
            <a:endParaRPr b="0" cap="none" dirty="0" sz="11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93" name="Google Shape;412;p12"/>
          <p:cNvSpPr/>
          <p:nvPr/>
        </p:nvSpPr>
        <p:spPr>
          <a:xfrm>
            <a:off x="5257800" y="1161288"/>
            <a:ext cx="3474720" cy="5486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cap="none" dirty="0" sz="8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LLMs and GNNs to automatically generate </a:t>
            </a:r>
            <a:r>
              <a:rPr dirty="0" sz="850" lang="en-US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contraints</a:t>
            </a:r>
            <a:r>
              <a:rPr dirty="0" sz="850"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predict good solution </a:t>
            </a:r>
            <a:r>
              <a:rPr b="0" cap="none" dirty="0" sz="850" i="0" lang="en-US" strike="noStrike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and speedup scheduling process</a:t>
            </a:r>
            <a:endParaRPr b="0" cap="none" dirty="0" sz="850" i="0" lang="en-US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94" name="Google Shape;413;p12"/>
          <p:cNvSpPr/>
          <p:nvPr/>
        </p:nvSpPr>
        <p:spPr>
          <a:xfrm>
            <a:off x="4754880" y="1892808"/>
            <a:ext cx="4069080" cy="914400"/>
          </a:xfrm>
          <a:prstGeom prst="rect"/>
          <a:solidFill>
            <a:srgbClr val="162447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95" name="Google Shape;414;p12"/>
          <p:cNvSpPr/>
          <p:nvPr/>
        </p:nvSpPr>
        <p:spPr>
          <a:xfrm>
            <a:off x="4828032" y="1938528"/>
            <a:ext cx="347472" cy="347472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96" name="Google Shape;415;p12"/>
          <p:cNvSpPr/>
          <p:nvPr/>
        </p:nvSpPr>
        <p:spPr>
          <a:xfrm>
            <a:off x="4828032" y="1938528"/>
            <a:ext cx="347472" cy="347472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cap="none" sz="11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cap="none" sz="11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97" name="Google Shape;416;p12"/>
          <p:cNvSpPr/>
          <p:nvPr/>
        </p:nvSpPr>
        <p:spPr>
          <a:xfrm>
            <a:off x="5257800" y="1920240"/>
            <a:ext cx="3474720" cy="25603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cap="none" dirty="0" sz="11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Scalability for Larger University</a:t>
            </a:r>
            <a:endParaRPr b="0" cap="none" dirty="0" sz="11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98" name="Google Shape;417;p12"/>
          <p:cNvSpPr/>
          <p:nvPr/>
        </p:nvSpPr>
        <p:spPr>
          <a:xfrm>
            <a:off x="5257800" y="2185416"/>
            <a:ext cx="3474720" cy="5486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dirty="0" sz="850"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Develop a composition technique to handle 300+ exams without running out of memory</a:t>
            </a:r>
            <a:endParaRPr b="0" cap="none" dirty="0" sz="8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99" name="Google Shape;419;p12"/>
          <p:cNvSpPr/>
          <p:nvPr/>
        </p:nvSpPr>
        <p:spPr>
          <a:xfrm>
            <a:off x="4828032" y="2962656"/>
            <a:ext cx="347472" cy="347472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0" name="Google Shape;422;p12"/>
          <p:cNvSpPr/>
          <p:nvPr/>
        </p:nvSpPr>
        <p:spPr>
          <a:xfrm>
            <a:off x="5257800" y="3209544"/>
            <a:ext cx="3474720" cy="5486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endParaRPr b="0" cap="none" dirty="0" sz="85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1" name="Google Shape;423;p12"/>
          <p:cNvSpPr/>
          <p:nvPr/>
        </p:nvSpPr>
        <p:spPr>
          <a:xfrm>
            <a:off x="4754880" y="3913632"/>
            <a:ext cx="4069080" cy="768096"/>
          </a:xfrm>
          <a:prstGeom prst="rect"/>
          <a:solidFill>
            <a:srgbClr val="162447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2" name="Google Shape;424;p12"/>
          <p:cNvSpPr/>
          <p:nvPr/>
        </p:nvSpPr>
        <p:spPr>
          <a:xfrm>
            <a:off x="4828032" y="3986784"/>
            <a:ext cx="347472" cy="347472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A7E8C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3" name="Google Shape;425;p12"/>
          <p:cNvSpPr/>
          <p:nvPr/>
        </p:nvSpPr>
        <p:spPr>
          <a:xfrm>
            <a:off x="4828032" y="3986784"/>
            <a:ext cx="347472" cy="347472"/>
          </a:xfrm>
          <a:prstGeom prst="rect"/>
          <a:noFill/>
          <a:ln>
            <a:noFill/>
          </a:ln>
        </p:spPr>
        <p:txBody>
          <a:bodyPr anchor="ctr" anchorCtr="0" bIns="0" lIns="0" rIns="0" spcFirstLastPara="1" tIns="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endParaRPr b="0" cap="none" dirty="0" sz="11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4" name="Google Shape;426;p12"/>
          <p:cNvSpPr/>
          <p:nvPr/>
        </p:nvSpPr>
        <p:spPr>
          <a:xfrm>
            <a:off x="4828032" y="3968496"/>
            <a:ext cx="3904488" cy="6949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cap="none" dirty="0" sz="11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cap="none" dirty="0" sz="11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5" name="Google Shape;429;p12"/>
          <p:cNvSpPr/>
          <p:nvPr/>
        </p:nvSpPr>
        <p:spPr>
          <a:xfrm>
            <a:off x="8503920" y="4937760"/>
            <a:ext cx="548640" cy="18288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cap="none" sz="700" i="0" lang="en-US" strike="noStrike" u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cap="none" sz="7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YUSUF</dc:creator>
  <cp:lastModifiedBy>YUSUF BELLO GARGA</cp:lastModifiedBy>
  <dcterms:created xsi:type="dcterms:W3CDTF">2026-05-09T03:37:09Z</dcterms:created>
  <dcterms:modified xsi:type="dcterms:W3CDTF">2026-05-09T03:37:09Z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ecd492889d194ae2bf363ee692ceee82</vt:lpwstr>
  </property>
</Properties>
</file>