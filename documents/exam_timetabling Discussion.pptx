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ableStyles" Target="tableStyle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694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9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9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201168" cy="5143500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577" name="Text 1"/>
          <p:cNvSpPr/>
          <p:nvPr/>
        </p:nvSpPr>
        <p:spPr>
          <a:xfrm>
            <a:off x="411480" y="457200"/>
            <a:ext cx="8321040" cy="10058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Fairness-Aware Constraint Satisfaction Framework</a:t>
            </a:r>
            <a:endParaRPr dirty="0" sz="3000" lang="en-US"/>
          </a:p>
        </p:txBody>
      </p:sp>
      <p:sp>
        <p:nvSpPr>
          <p:cNvPr id="1048578" name="Text 2"/>
          <p:cNvSpPr/>
          <p:nvPr/>
        </p:nvSpPr>
        <p:spPr>
          <a:xfrm>
            <a:off x="411480" y="1417320"/>
            <a:ext cx="8321040" cy="5943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700" i="1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University Exam Timetabling with Dual-Role Instructor Conflict Modeling</a:t>
            </a:r>
            <a:endParaRPr dirty="0" sz="1700" lang="en-US"/>
          </a:p>
        </p:txBody>
      </p:sp>
      <p:sp>
        <p:nvSpPr>
          <p:cNvPr id="1048579" name="Shape 3"/>
          <p:cNvSpPr/>
          <p:nvPr/>
        </p:nvSpPr>
        <p:spPr>
          <a:xfrm>
            <a:off x="411480" y="2103120"/>
            <a:ext cx="8321040" cy="36576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411480" y="2286000"/>
            <a:ext cx="2651760" cy="2331720"/>
          </a:xfrm>
          <a:prstGeom prst="rect"/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581" name="Text 5"/>
          <p:cNvSpPr/>
          <p:nvPr/>
        </p:nvSpPr>
        <p:spPr>
          <a:xfrm>
            <a:off x="411480" y="2331720"/>
            <a:ext cx="265176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⚠️</a:t>
            </a:r>
            <a:endParaRPr dirty="0" sz="2200" lang="en-US"/>
          </a:p>
        </p:txBody>
      </p:sp>
      <p:sp>
        <p:nvSpPr>
          <p:cNvPr id="1048582" name="Text 6"/>
          <p:cNvSpPr/>
          <p:nvPr/>
        </p:nvSpPr>
        <p:spPr>
          <a:xfrm>
            <a:off x="411480" y="2834640"/>
            <a:ext cx="265176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5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Problem</a:t>
            </a:r>
            <a:endParaRPr dirty="0" sz="1250" lang="en-US"/>
          </a:p>
        </p:txBody>
      </p:sp>
      <p:sp>
        <p:nvSpPr>
          <p:cNvPr id="1048583" name="Text 7"/>
          <p:cNvSpPr/>
          <p:nvPr/>
        </p:nvSpPr>
        <p:spPr>
          <a:xfrm>
            <a:off x="502920" y="3246120"/>
            <a:ext cx="2468880" cy="12801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timetabling is computationally intractable — existing methods leave critical stakeholder conflicts unresolved.</a:t>
            </a:r>
            <a:endParaRPr dirty="0" sz="1050" lang="en-US"/>
          </a:p>
        </p:txBody>
      </p:sp>
      <p:sp>
        <p:nvSpPr>
          <p:cNvPr id="1048584" name="Shape 8"/>
          <p:cNvSpPr/>
          <p:nvPr/>
        </p:nvSpPr>
        <p:spPr>
          <a:xfrm>
            <a:off x="3246120" y="2286000"/>
            <a:ext cx="2651760" cy="2331720"/>
          </a:xfrm>
          <a:prstGeom prst="rect"/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585" name="Text 9"/>
          <p:cNvSpPr/>
          <p:nvPr/>
        </p:nvSpPr>
        <p:spPr>
          <a:xfrm>
            <a:off x="3246120" y="2331720"/>
            <a:ext cx="265176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👥</a:t>
            </a:r>
            <a:endParaRPr dirty="0" sz="2200" lang="en-US"/>
          </a:p>
        </p:txBody>
      </p:sp>
      <p:sp>
        <p:nvSpPr>
          <p:cNvPr id="1048586" name="Text 10"/>
          <p:cNvSpPr/>
          <p:nvPr/>
        </p:nvSpPr>
        <p:spPr>
          <a:xfrm>
            <a:off x="3246120" y="2834640"/>
            <a:ext cx="265176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5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Gap</a:t>
            </a:r>
            <a:endParaRPr dirty="0" sz="1250" lang="en-US"/>
          </a:p>
        </p:txBody>
      </p:sp>
      <p:sp>
        <p:nvSpPr>
          <p:cNvPr id="1048587" name="Text 11"/>
          <p:cNvSpPr/>
          <p:nvPr/>
        </p:nvSpPr>
        <p:spPr>
          <a:xfrm>
            <a:off x="3337560" y="3246120"/>
            <a:ext cx="2468880" cy="12801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candidates act as both examinees AND invigilators. No prior work formally encodes this conflict as a hard constraint.</a:t>
            </a:r>
            <a:endParaRPr dirty="0" sz="1050" lang="en-US"/>
          </a:p>
        </p:txBody>
      </p:sp>
      <p:sp>
        <p:nvSpPr>
          <p:cNvPr id="1048588" name="Shape 12"/>
          <p:cNvSpPr/>
          <p:nvPr/>
        </p:nvSpPr>
        <p:spPr>
          <a:xfrm>
            <a:off x="6080760" y="2286000"/>
            <a:ext cx="2651760" cy="2331720"/>
          </a:xfrm>
          <a:prstGeom prst="rect"/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589" name="Text 13"/>
          <p:cNvSpPr/>
          <p:nvPr/>
        </p:nvSpPr>
        <p:spPr>
          <a:xfrm>
            <a:off x="6080760" y="2331720"/>
            <a:ext cx="265176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2200" lang="en-US">
                <a:solidFill>
                  <a:srgbClr val="000000"/>
                </a:solidFill>
              </a:rPr>
              <a:t>⚖️</a:t>
            </a:r>
            <a:endParaRPr dirty="0" sz="2200" lang="en-US"/>
          </a:p>
        </p:txBody>
      </p:sp>
      <p:sp>
        <p:nvSpPr>
          <p:cNvPr id="1048590" name="Text 14"/>
          <p:cNvSpPr/>
          <p:nvPr/>
        </p:nvSpPr>
        <p:spPr>
          <a:xfrm>
            <a:off x="6080760" y="2834640"/>
            <a:ext cx="2651760" cy="38404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5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Overlooked</a:t>
            </a:r>
            <a:endParaRPr dirty="0" sz="1250" lang="en-US"/>
          </a:p>
        </p:txBody>
      </p:sp>
      <p:sp>
        <p:nvSpPr>
          <p:cNvPr id="1048591" name="Text 15"/>
          <p:cNvSpPr/>
          <p:nvPr/>
        </p:nvSpPr>
        <p:spPr>
          <a:xfrm>
            <a:off x="6172200" y="3246120"/>
            <a:ext cx="2468880" cy="1280160"/>
          </a:xfrm>
          <a:prstGeom prst="rect"/>
          <a:noFill/>
        </p:spPr>
        <p:txBody>
          <a:bodyPr anchor="ctr" bIns="0" lIns="0" rIns="0" rtlCol="0" tIns="0" wrap="square"/>
          <a:p>
            <a:pPr algn="l"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ignore workload fairness for junior faculty. Disproportionate invigilation duties remain unaddressed.</a:t>
            </a:r>
            <a:endParaRPr dirty="0" sz="1050" lang="en-US"/>
          </a:p>
        </p:txBody>
      </p:sp>
      <p:sp>
        <p:nvSpPr>
          <p:cNvPr id="1048592" name="Text 16"/>
          <p:cNvSpPr/>
          <p:nvPr/>
        </p:nvSpPr>
        <p:spPr>
          <a:xfrm>
            <a:off x="7772400" y="4846320"/>
            <a:ext cx="1188720" cy="22860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A8BFCC"/>
                </a:solidFill>
              </a:rPr>
              <a:t>Slide 1 of 4</a:t>
            </a:r>
            <a:endParaRPr dirty="0" sz="9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hape 0"/>
          <p:cNvSpPr/>
          <p:nvPr/>
        </p:nvSpPr>
        <p:spPr>
          <a:xfrm>
            <a:off x="0" y="0"/>
            <a:ext cx="9144000" cy="960120"/>
          </a:xfrm>
          <a:prstGeom prst="rect"/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48597" name="Shape 1"/>
          <p:cNvSpPr/>
          <p:nvPr/>
        </p:nvSpPr>
        <p:spPr>
          <a:xfrm>
            <a:off x="0" y="960120"/>
            <a:ext cx="9144000" cy="64008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598" name="Text 2"/>
          <p:cNvSpPr/>
          <p:nvPr/>
        </p:nvSpPr>
        <p:spPr>
          <a:xfrm>
            <a:off x="365760" y="109728"/>
            <a:ext cx="8229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Literature</a:t>
            </a:r>
            <a:endParaRPr dirty="0" sz="2800" lang="en-US"/>
          </a:p>
        </p:txBody>
      </p:sp>
      <p:sp>
        <p:nvSpPr>
          <p:cNvPr id="1048599" name="Text 3"/>
          <p:cNvSpPr/>
          <p:nvPr/>
        </p:nvSpPr>
        <p:spPr>
          <a:xfrm>
            <a:off x="365760" y="658368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streams of prior work — and where this paper fits</a:t>
            </a:r>
            <a:endParaRPr dirty="0" sz="1200" lang="en-US"/>
          </a:p>
        </p:txBody>
      </p:sp>
      <p:sp>
        <p:nvSpPr>
          <p:cNvPr id="1048600" name="Shape 4"/>
          <p:cNvSpPr/>
          <p:nvPr/>
        </p:nvSpPr>
        <p:spPr>
          <a:xfrm>
            <a:off x="228600" y="1188720"/>
            <a:ext cx="4224528" cy="1691640"/>
          </a:xfrm>
          <a:prstGeom prst="rect"/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01" name="Shape 5"/>
          <p:cNvSpPr/>
          <p:nvPr/>
        </p:nvSpPr>
        <p:spPr>
          <a:xfrm>
            <a:off x="228600" y="1188720"/>
            <a:ext cx="4224528" cy="256032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02" name="Text 6"/>
          <p:cNvSpPr/>
          <p:nvPr/>
        </p:nvSpPr>
        <p:spPr>
          <a:xfrm>
            <a:off x="301752" y="1207008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dirty="0" sz="1100" lang="en-US"/>
          </a:p>
        </p:txBody>
      </p:sp>
      <p:sp>
        <p:nvSpPr>
          <p:cNvPr id="1048603" name="Text 7"/>
          <p:cNvSpPr/>
          <p:nvPr/>
        </p:nvSpPr>
        <p:spPr>
          <a:xfrm>
            <a:off x="704088" y="1207008"/>
            <a:ext cx="365760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Benchmarks</a:t>
            </a:r>
            <a:endParaRPr dirty="0" sz="1100" lang="en-US"/>
          </a:p>
        </p:txBody>
      </p:sp>
      <p:sp>
        <p:nvSpPr>
          <p:cNvPr id="1048604" name="Text 8"/>
          <p:cNvSpPr/>
          <p:nvPr/>
        </p:nvSpPr>
        <p:spPr>
          <a:xfrm>
            <a:off x="338328" y="1499616"/>
            <a:ext cx="4005072" cy="12984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et al. (1996) established the Toronto/Carter benchmark suite. Burke &amp; Newall (2004) showed adaptive heuristic ordering achieves state-of-the-art. Key gap: benchmarks are uncapacitated — no rooms, no invigilators.</a:t>
            </a:r>
            <a:endParaRPr dirty="0" sz="1000" lang="en-US"/>
          </a:p>
        </p:txBody>
      </p:sp>
      <p:sp>
        <p:nvSpPr>
          <p:cNvPr id="1048605" name="Shape 9"/>
          <p:cNvSpPr/>
          <p:nvPr/>
        </p:nvSpPr>
        <p:spPr>
          <a:xfrm>
            <a:off x="4681728" y="1188720"/>
            <a:ext cx="4224528" cy="1691640"/>
          </a:xfrm>
          <a:prstGeom prst="rect"/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06" name="Shape 10"/>
          <p:cNvSpPr/>
          <p:nvPr/>
        </p:nvSpPr>
        <p:spPr>
          <a:xfrm>
            <a:off x="4681728" y="1188720"/>
            <a:ext cx="4224528" cy="256032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07" name="Text 11"/>
          <p:cNvSpPr/>
          <p:nvPr/>
        </p:nvSpPr>
        <p:spPr>
          <a:xfrm>
            <a:off x="4754880" y="1207008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100" lang="en-US"/>
          </a:p>
        </p:txBody>
      </p:sp>
      <p:sp>
        <p:nvSpPr>
          <p:cNvPr id="1048608" name="Text 12"/>
          <p:cNvSpPr/>
          <p:nvPr/>
        </p:nvSpPr>
        <p:spPr>
          <a:xfrm>
            <a:off x="5157216" y="1207008"/>
            <a:ext cx="365760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Metaheuristics</a:t>
            </a:r>
            <a:endParaRPr dirty="0" sz="1100" lang="en-US"/>
          </a:p>
        </p:txBody>
      </p:sp>
      <p:sp>
        <p:nvSpPr>
          <p:cNvPr id="1048609" name="Text 13"/>
          <p:cNvSpPr/>
          <p:nvPr/>
        </p:nvSpPr>
        <p:spPr>
          <a:xfrm>
            <a:off x="4791456" y="1499616"/>
            <a:ext cx="4005072" cy="12984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algorithms, Tabu Search, ILS, and ACO dominate the literature (Tung 2021; Mandal 2020; Ghaffar 2025). Hybrid designs outperform pure GA. Near-universal absence of fairness and invigilator modelling.</a:t>
            </a:r>
            <a:endParaRPr dirty="0" sz="1000" lang="en-US"/>
          </a:p>
        </p:txBody>
      </p:sp>
      <p:sp>
        <p:nvSpPr>
          <p:cNvPr id="1048610" name="Shape 14"/>
          <p:cNvSpPr/>
          <p:nvPr/>
        </p:nvSpPr>
        <p:spPr>
          <a:xfrm>
            <a:off x="228600" y="3063240"/>
            <a:ext cx="4224528" cy="1691640"/>
          </a:xfrm>
          <a:prstGeom prst="rect"/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11" name="Shape 15"/>
          <p:cNvSpPr/>
          <p:nvPr/>
        </p:nvSpPr>
        <p:spPr>
          <a:xfrm>
            <a:off x="228600" y="3063240"/>
            <a:ext cx="4224528" cy="256032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12" name="Text 16"/>
          <p:cNvSpPr/>
          <p:nvPr/>
        </p:nvSpPr>
        <p:spPr>
          <a:xfrm>
            <a:off x="301752" y="3081528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100" lang="en-US"/>
          </a:p>
        </p:txBody>
      </p:sp>
      <p:sp>
        <p:nvSpPr>
          <p:cNvPr id="1048613" name="Text 17"/>
          <p:cNvSpPr/>
          <p:nvPr/>
        </p:nvSpPr>
        <p:spPr>
          <a:xfrm>
            <a:off x="704088" y="3081528"/>
            <a:ext cx="365760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Programming</a:t>
            </a:r>
            <a:endParaRPr dirty="0" sz="1100" lang="en-US"/>
          </a:p>
        </p:txBody>
      </p:sp>
      <p:sp>
        <p:nvSpPr>
          <p:cNvPr id="1048614" name="Text 18"/>
          <p:cNvSpPr/>
          <p:nvPr/>
        </p:nvSpPr>
        <p:spPr>
          <a:xfrm>
            <a:off x="338328" y="3374136"/>
            <a:ext cx="4005072" cy="12984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CP/SAT solvers (OR-Tools) bridge theoretical CP and practical performance. Alrawashdeh et al. validated CP for real institutional data. LLMs + GNNs are emerging as warm-start tools (Bonlarron IJCAI-25).</a:t>
            </a:r>
            <a:endParaRPr dirty="0" sz="1000" lang="en-US"/>
          </a:p>
        </p:txBody>
      </p:sp>
      <p:sp>
        <p:nvSpPr>
          <p:cNvPr id="1048615" name="Shape 19"/>
          <p:cNvSpPr/>
          <p:nvPr/>
        </p:nvSpPr>
        <p:spPr>
          <a:xfrm>
            <a:off x="4681728" y="3063240"/>
            <a:ext cx="4224528" cy="1691640"/>
          </a:xfrm>
          <a:prstGeom prst="rect"/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16" name="Shape 20"/>
          <p:cNvSpPr/>
          <p:nvPr/>
        </p:nvSpPr>
        <p:spPr>
          <a:xfrm>
            <a:off x="4681728" y="3063240"/>
            <a:ext cx="4224528" cy="256032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17" name="Text 21"/>
          <p:cNvSpPr/>
          <p:nvPr/>
        </p:nvSpPr>
        <p:spPr>
          <a:xfrm>
            <a:off x="4754880" y="3081528"/>
            <a:ext cx="41148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100" lang="en-US"/>
          </a:p>
        </p:txBody>
      </p:sp>
      <p:sp>
        <p:nvSpPr>
          <p:cNvPr id="1048618" name="Text 22"/>
          <p:cNvSpPr/>
          <p:nvPr/>
        </p:nvSpPr>
        <p:spPr>
          <a:xfrm>
            <a:off x="5157216" y="3081528"/>
            <a:ext cx="3657600" cy="21945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&amp; Fairness</a:t>
            </a:r>
            <a:endParaRPr dirty="0" sz="1100" lang="en-US"/>
          </a:p>
        </p:txBody>
      </p:sp>
      <p:sp>
        <p:nvSpPr>
          <p:cNvPr id="1048619" name="Text 23"/>
          <p:cNvSpPr/>
          <p:nvPr/>
        </p:nvSpPr>
        <p:spPr>
          <a:xfrm>
            <a:off x="4791456" y="3374136"/>
            <a:ext cx="4005072" cy="129844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Bazari et al. modelled professor conflicts via MIP. Comlan &amp; Allohoumbo acknowledge dual-role PhD conflicts but use manual rules. Gultekin et al. treat fairness as soft post-processing. This work is first to formally encode both as exact CP hard/soft constraints.</a:t>
            </a:r>
            <a:endParaRPr dirty="0" sz="1000" lang="en-US"/>
          </a:p>
        </p:txBody>
      </p:sp>
      <p:sp>
        <p:nvSpPr>
          <p:cNvPr id="1048620" name="Text 24"/>
          <p:cNvSpPr/>
          <p:nvPr/>
        </p:nvSpPr>
        <p:spPr>
          <a:xfrm>
            <a:off x="7772400" y="4892040"/>
            <a:ext cx="1188720" cy="22860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A80"/>
                </a:solidFill>
              </a:rPr>
              <a:t>Slide 2 of 4</a:t>
            </a:r>
            <a:endParaRPr dirty="0" sz="9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Shape 0"/>
          <p:cNvSpPr/>
          <p:nvPr/>
        </p:nvSpPr>
        <p:spPr>
          <a:xfrm>
            <a:off x="0" y="0"/>
            <a:ext cx="9144000" cy="960120"/>
          </a:xfrm>
          <a:prstGeom prst="rect"/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sp>
        <p:nvSpPr>
          <p:cNvPr id="1048625" name="Shape 1"/>
          <p:cNvSpPr/>
          <p:nvPr/>
        </p:nvSpPr>
        <p:spPr>
          <a:xfrm>
            <a:off x="0" y="960120"/>
            <a:ext cx="9144000" cy="54864"/>
          </a:xfrm>
          <a:prstGeom prst="rect"/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48626" name="Text 2"/>
          <p:cNvSpPr/>
          <p:nvPr/>
        </p:nvSpPr>
        <p:spPr>
          <a:xfrm>
            <a:off x="365760" y="109728"/>
            <a:ext cx="8229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</a:t>
            </a:r>
            <a:endParaRPr dirty="0" sz="2800" lang="en-US"/>
          </a:p>
        </p:txBody>
      </p:sp>
      <p:sp>
        <p:nvSpPr>
          <p:cNvPr id="1048627" name="Text 3"/>
          <p:cNvSpPr/>
          <p:nvPr/>
        </p:nvSpPr>
        <p:spPr>
          <a:xfrm>
            <a:off x="365760" y="658368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CSOP formulation solved with Google OR-Tools CP-SAT</a:t>
            </a:r>
            <a:endParaRPr dirty="0" sz="1200" lang="en-US"/>
          </a:p>
        </p:txBody>
      </p:sp>
      <p:sp>
        <p:nvSpPr>
          <p:cNvPr id="1048628" name="Shape 4"/>
          <p:cNvSpPr/>
          <p:nvPr/>
        </p:nvSpPr>
        <p:spPr>
          <a:xfrm>
            <a:off x="228600" y="1143000"/>
            <a:ext cx="4114800" cy="3657600"/>
          </a:xfrm>
          <a:prstGeom prst="rect"/>
          <a:solidFill>
            <a:srgbClr val="1E3558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29" name="Text 5"/>
          <p:cNvSpPr/>
          <p:nvPr/>
        </p:nvSpPr>
        <p:spPr>
          <a:xfrm>
            <a:off x="320040" y="1234440"/>
            <a:ext cx="39319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MODEL</a:t>
            </a:r>
            <a:endParaRPr dirty="0" sz="1200" lang="en-US"/>
          </a:p>
        </p:txBody>
      </p:sp>
      <p:sp>
        <p:nvSpPr>
          <p:cNvPr id="1048630" name="Shape 6"/>
          <p:cNvSpPr/>
          <p:nvPr/>
        </p:nvSpPr>
        <p:spPr>
          <a:xfrm>
            <a:off x="320040" y="1600200"/>
            <a:ext cx="3931920" cy="292608"/>
          </a:xfrm>
          <a:prstGeom prst="rect"/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48631" name="Text 7"/>
          <p:cNvSpPr/>
          <p:nvPr/>
        </p:nvSpPr>
        <p:spPr>
          <a:xfrm>
            <a:off x="411480" y="1618488"/>
            <a:ext cx="37490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No student time conflict</a:t>
            </a:r>
            <a:endParaRPr dirty="0" sz="1050" lang="en-US"/>
          </a:p>
        </p:txBody>
      </p:sp>
      <p:sp>
        <p:nvSpPr>
          <p:cNvPr id="1048632" name="Shape 8"/>
          <p:cNvSpPr/>
          <p:nvPr/>
        </p:nvSpPr>
        <p:spPr>
          <a:xfrm>
            <a:off x="320040" y="1947672"/>
            <a:ext cx="3931920" cy="292608"/>
          </a:xfrm>
          <a:prstGeom prst="rect"/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48633" name="Text 9"/>
          <p:cNvSpPr/>
          <p:nvPr/>
        </p:nvSpPr>
        <p:spPr>
          <a:xfrm>
            <a:off x="411480" y="1965960"/>
            <a:ext cx="37490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Room capacity &amp; online routing</a:t>
            </a:r>
            <a:endParaRPr dirty="0" sz="1050" lang="en-US"/>
          </a:p>
        </p:txBody>
      </p:sp>
      <p:sp>
        <p:nvSpPr>
          <p:cNvPr id="1048634" name="Shape 10"/>
          <p:cNvSpPr/>
          <p:nvPr/>
        </p:nvSpPr>
        <p:spPr>
          <a:xfrm>
            <a:off x="320040" y="2295144"/>
            <a:ext cx="3931920" cy="292608"/>
          </a:xfrm>
          <a:prstGeom prst="rect"/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48635" name="Text 11"/>
          <p:cNvSpPr/>
          <p:nvPr/>
        </p:nvSpPr>
        <p:spPr>
          <a:xfrm>
            <a:off x="411480" y="2313432"/>
            <a:ext cx="37490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No room clash</a:t>
            </a:r>
            <a:endParaRPr dirty="0" sz="1050" lang="en-US"/>
          </a:p>
        </p:txBody>
      </p:sp>
      <p:sp>
        <p:nvSpPr>
          <p:cNvPr id="1048636" name="Shape 12"/>
          <p:cNvSpPr/>
          <p:nvPr/>
        </p:nvSpPr>
        <p:spPr>
          <a:xfrm>
            <a:off x="320040" y="2642616"/>
            <a:ext cx="3931920" cy="292608"/>
          </a:xfrm>
          <a:prstGeom prst="rect"/>
          <a:solidFill>
            <a:srgbClr val="0F3D4A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37" name="Text 13"/>
          <p:cNvSpPr/>
          <p:nvPr/>
        </p:nvSpPr>
        <p:spPr>
          <a:xfrm>
            <a:off x="411480" y="2660904"/>
            <a:ext cx="37490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05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Dual-role instructor conflict  ★</a:t>
            </a:r>
            <a:endParaRPr dirty="0" sz="1050" lang="en-US"/>
          </a:p>
        </p:txBody>
      </p:sp>
      <p:sp>
        <p:nvSpPr>
          <p:cNvPr id="1048638" name="Shape 14"/>
          <p:cNvSpPr/>
          <p:nvPr/>
        </p:nvSpPr>
        <p:spPr>
          <a:xfrm>
            <a:off x="320040" y="2990088"/>
            <a:ext cx="3931920" cy="292608"/>
          </a:xfrm>
          <a:prstGeom prst="rect"/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48639" name="Text 15"/>
          <p:cNvSpPr/>
          <p:nvPr/>
        </p:nvSpPr>
        <p:spPr>
          <a:xfrm>
            <a:off x="411480" y="3008376"/>
            <a:ext cx="37490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 No double invigilation</a:t>
            </a:r>
            <a:endParaRPr dirty="0" sz="1050" lang="en-US"/>
          </a:p>
        </p:txBody>
      </p:sp>
      <p:sp>
        <p:nvSpPr>
          <p:cNvPr id="1048640" name="Shape 16"/>
          <p:cNvSpPr/>
          <p:nvPr/>
        </p:nvSpPr>
        <p:spPr>
          <a:xfrm>
            <a:off x="320040" y="3337560"/>
            <a:ext cx="3931920" cy="292608"/>
          </a:xfrm>
          <a:prstGeom prst="rect"/>
          <a:solidFill>
            <a:srgbClr val="1B3250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48641" name="Text 17"/>
          <p:cNvSpPr/>
          <p:nvPr/>
        </p:nvSpPr>
        <p:spPr>
          <a:xfrm>
            <a:off x="411480" y="3355848"/>
            <a:ext cx="3749040" cy="256032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 Min. invigilator count</a:t>
            </a:r>
            <a:endParaRPr dirty="0" sz="1050" lang="en-US"/>
          </a:p>
        </p:txBody>
      </p:sp>
      <p:sp>
        <p:nvSpPr>
          <p:cNvPr id="1048642" name="Text 18"/>
          <p:cNvSpPr/>
          <p:nvPr/>
        </p:nvSpPr>
        <p:spPr>
          <a:xfrm>
            <a:off x="320040" y="3730752"/>
            <a:ext cx="39319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i="1" lang="en-US">
                <a:solidFill>
                  <a:srgbClr val="A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Soft: S1 Time pref · S2 Fairness (min-max) · S3 Consec. invigilation · S4 Day gap · S5 Anti-fragmentation</a:t>
            </a:r>
            <a:endParaRPr dirty="0" sz="950" lang="en-US"/>
          </a:p>
        </p:txBody>
      </p:sp>
      <p:sp>
        <p:nvSpPr>
          <p:cNvPr id="1048643" name="Shape 19"/>
          <p:cNvSpPr/>
          <p:nvPr/>
        </p:nvSpPr>
        <p:spPr>
          <a:xfrm>
            <a:off x="4572000" y="1143000"/>
            <a:ext cx="4343400" cy="3657600"/>
          </a:xfrm>
          <a:prstGeom prst="rect"/>
          <a:solidFill>
            <a:srgbClr val="1E3558"/>
          </a:solidFill>
          <a:ln w="19050">
            <a:solidFill>
              <a:srgbClr val="E8A838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44" name="Text 20"/>
          <p:cNvSpPr/>
          <p:nvPr/>
        </p:nvSpPr>
        <p:spPr>
          <a:xfrm>
            <a:off x="4663440" y="1234440"/>
            <a:ext cx="416052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dirty="0" sz="1200" lang="en-US"/>
          </a:p>
        </p:txBody>
      </p:sp>
      <p:sp>
        <p:nvSpPr>
          <p:cNvPr id="1048645" name="Shape 21"/>
          <p:cNvSpPr/>
          <p:nvPr/>
        </p:nvSpPr>
        <p:spPr>
          <a:xfrm>
            <a:off x="4663440" y="1645920"/>
            <a:ext cx="4160520" cy="1143000"/>
          </a:xfrm>
          <a:prstGeom prst="rect"/>
          <a:solidFill>
            <a:srgbClr val="253F6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46" name="Text 22"/>
          <p:cNvSpPr/>
          <p:nvPr/>
        </p:nvSpPr>
        <p:spPr>
          <a:xfrm>
            <a:off x="4754880" y="1709928"/>
            <a:ext cx="39319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Carter/Toronto Suite</a:t>
            </a:r>
            <a:endParaRPr dirty="0" sz="1200" lang="en-US"/>
          </a:p>
        </p:txBody>
      </p:sp>
      <p:sp>
        <p:nvSpPr>
          <p:cNvPr id="1048647" name="Text 23"/>
          <p:cNvSpPr/>
          <p:nvPr/>
        </p:nvSpPr>
        <p:spPr>
          <a:xfrm>
            <a:off x="4754880" y="1993392"/>
            <a:ext cx="393192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i="1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benchmark instances</a:t>
            </a:r>
            <a:endParaRPr dirty="0" sz="1000" lang="en-US"/>
          </a:p>
        </p:txBody>
      </p:sp>
      <p:sp>
        <p:nvSpPr>
          <p:cNvPr id="1048648" name="Text 24"/>
          <p:cNvSpPr/>
          <p:nvPr/>
        </p:nvSpPr>
        <p:spPr>
          <a:xfrm>
            <a:off x="4754880" y="2231136"/>
            <a:ext cx="39319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80–189 exams · 549–2,823 students</a:t>
            </a:r>
            <a:endParaRPr dirty="0" sz="1000" lang="en-US"/>
          </a:p>
        </p:txBody>
      </p:sp>
      <p:sp>
        <p:nvSpPr>
          <p:cNvPr id="1048649" name="Shape 25"/>
          <p:cNvSpPr/>
          <p:nvPr/>
        </p:nvSpPr>
        <p:spPr>
          <a:xfrm>
            <a:off x="4663440" y="2971800"/>
            <a:ext cx="4160520" cy="1143000"/>
          </a:xfrm>
          <a:prstGeom prst="rect"/>
          <a:solidFill>
            <a:srgbClr val="253F60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50" name="Text 26"/>
          <p:cNvSpPr/>
          <p:nvPr/>
        </p:nvSpPr>
        <p:spPr>
          <a:xfrm>
            <a:off x="4754880" y="3035808"/>
            <a:ext cx="393192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X (Real)</a:t>
            </a:r>
            <a:endParaRPr dirty="0" sz="1200" lang="en-US"/>
          </a:p>
        </p:txBody>
      </p:sp>
      <p:sp>
        <p:nvSpPr>
          <p:cNvPr id="1048651" name="Text 27"/>
          <p:cNvSpPr/>
          <p:nvPr/>
        </p:nvSpPr>
        <p:spPr>
          <a:xfrm>
            <a:off x="4754880" y="3319272"/>
            <a:ext cx="3931920" cy="2286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i="1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Okan Univ. Fall 2024-25</a:t>
            </a:r>
            <a:endParaRPr dirty="0" sz="1000" lang="en-US"/>
          </a:p>
        </p:txBody>
      </p:sp>
      <p:sp>
        <p:nvSpPr>
          <p:cNvPr id="1048652" name="Text 28"/>
          <p:cNvSpPr/>
          <p:nvPr/>
        </p:nvSpPr>
        <p:spPr>
          <a:xfrm>
            <a:off x="4754880" y="3557016"/>
            <a:ext cx="3931920" cy="4114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0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exams · 36 instructors (25 dual-role)</a:t>
            </a:r>
            <a:endParaRPr dirty="0" sz="1000" lang="en-US"/>
          </a:p>
          <a:p>
            <a:pPr indent="0" marL="0">
              <a:buNone/>
            </a:pPr>
            <a:r>
              <a:rPr dirty="0" sz="100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rooms · 62 timeslots · 8 exam days</a:t>
            </a:r>
            <a:endParaRPr dirty="0" sz="1000" lang="en-US"/>
          </a:p>
        </p:txBody>
      </p:sp>
      <p:sp>
        <p:nvSpPr>
          <p:cNvPr id="1048653" name="Shape 29"/>
          <p:cNvSpPr/>
          <p:nvPr/>
        </p:nvSpPr>
        <p:spPr>
          <a:xfrm>
            <a:off x="4663440" y="3749040"/>
            <a:ext cx="4160520" cy="914400"/>
          </a:xfrm>
          <a:prstGeom prst="rect"/>
          <a:solidFill>
            <a:srgbClr val="0F2035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54" name="Text 30"/>
          <p:cNvSpPr/>
          <p:nvPr/>
        </p:nvSpPr>
        <p:spPr>
          <a:xfrm>
            <a:off x="4754880" y="3822192"/>
            <a:ext cx="397764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Google OR-Tools CP-SAT  |  600 s limit  |  AC-3 propagation  |  LNS + Branch-and-Bound  |  Objective: min w₁S1 + w₂S2 + w₃S3 + w₄S4 + S5</a:t>
            </a:r>
            <a:endParaRPr dirty="0" sz="950" lang="en-US"/>
          </a:p>
        </p:txBody>
      </p:sp>
      <p:sp>
        <p:nvSpPr>
          <p:cNvPr id="1048655" name="Text 31"/>
          <p:cNvSpPr/>
          <p:nvPr/>
        </p:nvSpPr>
        <p:spPr>
          <a:xfrm>
            <a:off x="7772400" y="4892040"/>
            <a:ext cx="1188720" cy="22860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A8BFCC"/>
                </a:solidFill>
              </a:rPr>
              <a:t>Slide 3 of 4</a:t>
            </a:r>
            <a:endParaRPr dirty="0" sz="9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hape 0"/>
          <p:cNvSpPr/>
          <p:nvPr/>
        </p:nvSpPr>
        <p:spPr>
          <a:xfrm>
            <a:off x="0" y="0"/>
            <a:ext cx="9144000" cy="960120"/>
          </a:xfrm>
          <a:prstGeom prst="rect"/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48660" name="Shape 1"/>
          <p:cNvSpPr/>
          <p:nvPr/>
        </p:nvSpPr>
        <p:spPr>
          <a:xfrm>
            <a:off x="0" y="960120"/>
            <a:ext cx="9144000" cy="64008"/>
          </a:xfrm>
          <a:prstGeom prst="rect"/>
          <a:solidFill>
            <a:srgbClr val="0F7173"/>
          </a:solidFill>
          <a:ln w="12700">
            <a:solidFill>
              <a:srgbClr val="0F7173"/>
            </a:solidFill>
            <a:prstDash val="solid"/>
          </a:ln>
        </p:spPr>
      </p:sp>
      <p:sp>
        <p:nvSpPr>
          <p:cNvPr id="1048661" name="Text 2"/>
          <p:cNvSpPr/>
          <p:nvPr/>
        </p:nvSpPr>
        <p:spPr>
          <a:xfrm>
            <a:off x="365760" y="109728"/>
            <a:ext cx="8229600" cy="64008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8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dirty="0" sz="2800" lang="en-US"/>
          </a:p>
        </p:txBody>
      </p:sp>
      <p:sp>
        <p:nvSpPr>
          <p:cNvPr id="1048662" name="Text 3"/>
          <p:cNvSpPr/>
          <p:nvPr/>
        </p:nvSpPr>
        <p:spPr>
          <a:xfrm>
            <a:off x="365760" y="658368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200" i="1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benchmarks + real-world deployment + ablation study</a:t>
            </a:r>
            <a:endParaRPr dirty="0" sz="1200" lang="en-US"/>
          </a:p>
        </p:txBody>
      </p:sp>
      <p:sp>
        <p:nvSpPr>
          <p:cNvPr id="1048663" name="Shape 4"/>
          <p:cNvSpPr/>
          <p:nvPr/>
        </p:nvSpPr>
        <p:spPr>
          <a:xfrm>
            <a:off x="228600" y="1143000"/>
            <a:ext cx="2011680" cy="1325880"/>
          </a:xfrm>
          <a:prstGeom prst="rect"/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64" name="Text 5"/>
          <p:cNvSpPr/>
          <p:nvPr/>
        </p:nvSpPr>
        <p:spPr>
          <a:xfrm>
            <a:off x="228600" y="1207008"/>
            <a:ext cx="2011680" cy="6583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dirty="0" sz="3000" lang="en-US"/>
          </a:p>
        </p:txBody>
      </p:sp>
      <p:sp>
        <p:nvSpPr>
          <p:cNvPr id="1048665" name="Text 6"/>
          <p:cNvSpPr/>
          <p:nvPr/>
        </p:nvSpPr>
        <p:spPr>
          <a:xfrm>
            <a:off x="320040" y="1874520"/>
            <a:ext cx="18288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(all instances)</a:t>
            </a:r>
            <a:endParaRPr dirty="0" sz="950" lang="en-US"/>
          </a:p>
        </p:txBody>
      </p:sp>
      <p:sp>
        <p:nvSpPr>
          <p:cNvPr id="1048666" name="Shape 7"/>
          <p:cNvSpPr/>
          <p:nvPr/>
        </p:nvSpPr>
        <p:spPr>
          <a:xfrm>
            <a:off x="2423160" y="1143000"/>
            <a:ext cx="2011680" cy="1325880"/>
          </a:xfrm>
          <a:prstGeom prst="rect"/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67" name="Text 8"/>
          <p:cNvSpPr/>
          <p:nvPr/>
        </p:nvSpPr>
        <p:spPr>
          <a:xfrm>
            <a:off x="2423160" y="1207008"/>
            <a:ext cx="2011680" cy="6583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</a:t>
            </a:r>
            <a:endParaRPr dirty="0" sz="3000" lang="en-US"/>
          </a:p>
        </p:txBody>
      </p:sp>
      <p:sp>
        <p:nvSpPr>
          <p:cNvPr id="1048668" name="Text 9"/>
          <p:cNvSpPr/>
          <p:nvPr/>
        </p:nvSpPr>
        <p:spPr>
          <a:xfrm>
            <a:off x="2514600" y="1874520"/>
            <a:ext cx="18288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gap (min-max)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3 of 4 benchmarks</a:t>
            </a:r>
            <a:endParaRPr dirty="0" sz="950" lang="en-US"/>
          </a:p>
        </p:txBody>
      </p:sp>
      <p:sp>
        <p:nvSpPr>
          <p:cNvPr id="1048669" name="Shape 10"/>
          <p:cNvSpPr/>
          <p:nvPr/>
        </p:nvSpPr>
        <p:spPr>
          <a:xfrm>
            <a:off x="4617720" y="1143000"/>
            <a:ext cx="2011680" cy="1325880"/>
          </a:xfrm>
          <a:prstGeom prst="rect"/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70" name="Text 11"/>
          <p:cNvSpPr/>
          <p:nvPr/>
        </p:nvSpPr>
        <p:spPr>
          <a:xfrm>
            <a:off x="4617720" y="1207008"/>
            <a:ext cx="2011680" cy="6583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14.3s</a:t>
            </a:r>
            <a:endParaRPr dirty="0" sz="3000" lang="en-US"/>
          </a:p>
        </p:txBody>
      </p:sp>
      <p:sp>
        <p:nvSpPr>
          <p:cNvPr id="1048671" name="Text 12"/>
          <p:cNvSpPr/>
          <p:nvPr/>
        </p:nvSpPr>
        <p:spPr>
          <a:xfrm>
            <a:off x="4709160" y="1874520"/>
            <a:ext cx="18288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OPTIMAL on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hec-s-92 (80 exams)</a:t>
            </a:r>
            <a:endParaRPr dirty="0" sz="950" lang="en-US"/>
          </a:p>
        </p:txBody>
      </p:sp>
      <p:sp>
        <p:nvSpPr>
          <p:cNvPr id="1048672" name="Shape 13"/>
          <p:cNvSpPr/>
          <p:nvPr/>
        </p:nvSpPr>
        <p:spPr>
          <a:xfrm>
            <a:off x="6812280" y="1143000"/>
            <a:ext cx="2011680" cy="1325880"/>
          </a:xfrm>
          <a:prstGeom prst="rect"/>
          <a:solidFill>
            <a:srgbClr val="1B2A4A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73" name="Text 14"/>
          <p:cNvSpPr/>
          <p:nvPr/>
        </p:nvSpPr>
        <p:spPr>
          <a:xfrm>
            <a:off x="6812280" y="1207008"/>
            <a:ext cx="2011680" cy="658368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dirty="0" sz="3000" lang="en-US"/>
          </a:p>
        </p:txBody>
      </p:sp>
      <p:sp>
        <p:nvSpPr>
          <p:cNvPr id="1048674" name="Text 15"/>
          <p:cNvSpPr/>
          <p:nvPr/>
        </p:nvSpPr>
        <p:spPr>
          <a:xfrm>
            <a:off x="6903720" y="1874520"/>
            <a:ext cx="1828800" cy="50292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Dual-role violations (H4)</a:t>
            </a:r>
            <a:endParaRPr dirty="0" sz="950" lang="en-US"/>
          </a:p>
          <a:p>
            <a:pPr algn="ctr" indent="0" marL="0">
              <a:buNone/>
            </a:pPr>
            <a:r>
              <a:rPr dirty="0" sz="950" lang="en-US">
                <a:solidFill>
                  <a:srgbClr val="D9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runs</a:t>
            </a:r>
            <a:endParaRPr dirty="0" sz="950" lang="en-US"/>
          </a:p>
        </p:txBody>
      </p:sp>
      <p:sp>
        <p:nvSpPr>
          <p:cNvPr id="1048675" name="Shape 16"/>
          <p:cNvSpPr/>
          <p:nvPr/>
        </p:nvSpPr>
        <p:spPr>
          <a:xfrm>
            <a:off x="228600" y="2606040"/>
            <a:ext cx="5257800" cy="2377440"/>
          </a:xfrm>
          <a:prstGeom prst="rect"/>
          <a:solidFill>
            <a:srgbClr val="FFFFFF"/>
          </a:solidFill>
          <a:ln w="12700">
            <a:solidFill>
              <a:srgbClr val="A8BFCC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76" name="Text 17"/>
          <p:cNvSpPr/>
          <p:nvPr/>
        </p:nvSpPr>
        <p:spPr>
          <a:xfrm>
            <a:off x="320040" y="2670048"/>
            <a:ext cx="507492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Carter Benchmark Summary</a:t>
            </a:r>
            <a:endParaRPr dirty="0" sz="110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320040" y="2990088"/>
          <a:ext cx="5074920" cy="1920240"/>
        </p:xfrm>
        <a:graphic>
          <a:graphicData uri="http://schemas.openxmlformats.org/drawingml/2006/table">
            <a:tbl>
              <a:tblPr/>
              <a:tblGrid>
                <a:gridCol w="1188720"/>
                <a:gridCol w="777240"/>
                <a:gridCol w="1188720"/>
                <a:gridCol w="1097280"/>
                <a:gridCol w="822960"/>
              </a:tblGrid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 Gap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000" lang="en-US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hec-s-92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★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 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sta-f-83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yor-f-83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ear-f-83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‡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00" lang="en-US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s</a:t>
                      </a:r>
                      <a:endParaRPr dirty="0" sz="1000" lang="en-US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F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8677" name="Shape 18"/>
          <p:cNvSpPr/>
          <p:nvPr/>
        </p:nvSpPr>
        <p:spPr>
          <a:xfrm>
            <a:off x="5669280" y="2606040"/>
            <a:ext cx="3246120" cy="2377440"/>
          </a:xfrm>
          <a:prstGeom prst="rect"/>
          <a:solidFill>
            <a:srgbClr val="FFFFFF"/>
          </a:solidFill>
          <a:ln w="19050">
            <a:solidFill>
              <a:srgbClr val="0F7173"/>
            </a:solidFill>
            <a:prstDash val="solid"/>
          </a:ln>
          <a:effectLst>
            <a:outerShdw algn="bl" blurRad="101600" dir="8100000" dist="38100" kx="0" ky="0" rotWithShape="0" sx="100000" sy="100000">
              <a:srgbClr val="000000">
                <a:alpha val="18000"/>
              </a:srgbClr>
            </a:outerShdw>
          </a:effectLst>
        </p:spPr>
      </p:sp>
      <p:sp>
        <p:nvSpPr>
          <p:cNvPr id="1048678" name="Text 19"/>
          <p:cNvSpPr/>
          <p:nvPr/>
        </p:nvSpPr>
        <p:spPr>
          <a:xfrm>
            <a:off x="5760720" y="2670048"/>
            <a:ext cx="3063240" cy="29260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100" lang="en-US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dirty="0" sz="1100" lang="en-US"/>
          </a:p>
        </p:txBody>
      </p:sp>
      <p:sp>
        <p:nvSpPr>
          <p:cNvPr id="1048679" name="Text 20"/>
          <p:cNvSpPr/>
          <p:nvPr/>
        </p:nvSpPr>
        <p:spPr>
          <a:xfrm>
            <a:off x="5760720" y="3035808"/>
            <a:ext cx="347472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000000"/>
                </a:solidFill>
              </a:rPr>
              <a:t>✅</a:t>
            </a:r>
            <a:endParaRPr dirty="0" sz="1300" lang="en-US"/>
          </a:p>
        </p:txBody>
      </p:sp>
      <p:sp>
        <p:nvSpPr>
          <p:cNvPr id="1048680" name="Text 21"/>
          <p:cNvSpPr/>
          <p:nvPr/>
        </p:nvSpPr>
        <p:spPr>
          <a:xfrm>
            <a:off x="6108192" y="3035808"/>
            <a:ext cx="2715768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Multi-room splitting: 446-student exam split across 14 classrooms simultaneously</a:t>
            </a:r>
            <a:endParaRPr dirty="0" sz="950" lang="en-US"/>
          </a:p>
        </p:txBody>
      </p:sp>
      <p:sp>
        <p:nvSpPr>
          <p:cNvPr id="1048681" name="Text 22"/>
          <p:cNvSpPr/>
          <p:nvPr/>
        </p:nvSpPr>
        <p:spPr>
          <a:xfrm>
            <a:off x="5760720" y="3511296"/>
            <a:ext cx="347472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000000"/>
                </a:solidFill>
              </a:rPr>
              <a:t>⚠️</a:t>
            </a:r>
            <a:endParaRPr dirty="0" sz="1300" lang="en-US"/>
          </a:p>
        </p:txBody>
      </p:sp>
      <p:sp>
        <p:nvSpPr>
          <p:cNvPr id="1048682" name="Text 23"/>
          <p:cNvSpPr/>
          <p:nvPr/>
        </p:nvSpPr>
        <p:spPr>
          <a:xfrm>
            <a:off x="6108192" y="3511296"/>
            <a:ext cx="2715768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ear-f-83 fairness collapse (gap 21) = structural saturation, not solver failure</a:t>
            </a:r>
            <a:endParaRPr dirty="0" sz="950" lang="en-US"/>
          </a:p>
        </p:txBody>
      </p:sp>
      <p:sp>
        <p:nvSpPr>
          <p:cNvPr id="1048683" name="Text 24"/>
          <p:cNvSpPr/>
          <p:nvPr/>
        </p:nvSpPr>
        <p:spPr>
          <a:xfrm>
            <a:off x="5760720" y="3986784"/>
            <a:ext cx="347472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000000"/>
                </a:solidFill>
              </a:rPr>
              <a:t>🔬</a:t>
            </a:r>
            <a:endParaRPr dirty="0" sz="1300" lang="en-US"/>
          </a:p>
        </p:txBody>
      </p:sp>
      <p:sp>
        <p:nvSpPr>
          <p:cNvPr id="1048684" name="Text 25"/>
          <p:cNvSpPr/>
          <p:nvPr/>
        </p:nvSpPr>
        <p:spPr>
          <a:xfrm>
            <a:off x="6108192" y="3986784"/>
            <a:ext cx="2715768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enabled: +42.6% objective degradation due to ~236K auxiliary variables</a:t>
            </a:r>
            <a:endParaRPr dirty="0" sz="950" lang="en-US"/>
          </a:p>
        </p:txBody>
      </p:sp>
      <p:sp>
        <p:nvSpPr>
          <p:cNvPr id="1048685" name="Text 26"/>
          <p:cNvSpPr/>
          <p:nvPr/>
        </p:nvSpPr>
        <p:spPr>
          <a:xfrm>
            <a:off x="5760720" y="4462272"/>
            <a:ext cx="347472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000000"/>
                </a:solidFill>
              </a:rPr>
              <a:t>📈</a:t>
            </a:r>
            <a:endParaRPr dirty="0" sz="1300" lang="en-US"/>
          </a:p>
        </p:txBody>
      </p:sp>
      <p:sp>
        <p:nvSpPr>
          <p:cNvPr id="1048686" name="Text 27"/>
          <p:cNvSpPr/>
          <p:nvPr/>
        </p:nvSpPr>
        <p:spPr>
          <a:xfrm>
            <a:off x="6108192" y="4462272"/>
            <a:ext cx="2715768" cy="402336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950" lang="en-US">
                <a:solidFill>
                  <a:srgbClr val="11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boundary: ~300 exams for monolithic formulation</a:t>
            </a:r>
            <a:endParaRPr dirty="0" sz="950" lang="en-US"/>
          </a:p>
        </p:txBody>
      </p:sp>
      <p:sp>
        <p:nvSpPr>
          <p:cNvPr id="1048687" name="Text 28"/>
          <p:cNvSpPr/>
          <p:nvPr/>
        </p:nvSpPr>
        <p:spPr>
          <a:xfrm>
            <a:off x="228600" y="4919472"/>
            <a:ext cx="5943600" cy="20116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850" i="1" lang="en-US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‡ Structural saturation: all 45 timeslots + 20 rooms fully occupied</a:t>
            </a:r>
            <a:endParaRPr dirty="0" sz="850" lang="en-US"/>
          </a:p>
        </p:txBody>
      </p:sp>
      <p:sp>
        <p:nvSpPr>
          <p:cNvPr id="1048688" name="Text 29"/>
          <p:cNvSpPr/>
          <p:nvPr/>
        </p:nvSpPr>
        <p:spPr>
          <a:xfrm>
            <a:off x="7772400" y="4919472"/>
            <a:ext cx="1188720" cy="201168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900" lang="en-US">
                <a:solidFill>
                  <a:srgbClr val="5A6A80"/>
                </a:solidFill>
              </a:rPr>
              <a:t>Slide 4 of 4</a:t>
            </a:r>
            <a:endParaRPr dirty="0" sz="9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Fairness-Aware Exam Timetabling</dc:title>
  <dc:creator>PptxGenJS</dc:creator>
  <cp:lastModifiedBy>PptxGenJS</cp:lastModifiedBy>
  <dcterms:created xsi:type="dcterms:W3CDTF">2026-04-12T21:28:45Z</dcterms:created>
  <dcterms:modified xsi:type="dcterms:W3CDTF">2026-04-13T06:35:47Z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2a4ac54f460c484d92ac0d47528655e1</vt:lpwstr>
  </property>
</Properties>
</file>